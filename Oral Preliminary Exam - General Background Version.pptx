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26"/>
  </p:notesMasterIdLst>
  <p:sldIdLst>
    <p:sldId id="256" r:id="rId2"/>
    <p:sldId id="257" r:id="rId3"/>
    <p:sldId id="258" r:id="rId4"/>
    <p:sldId id="259" r:id="rId5"/>
    <p:sldId id="262" r:id="rId6"/>
    <p:sldId id="263" r:id="rId7"/>
    <p:sldId id="264" r:id="rId8"/>
    <p:sldId id="268" r:id="rId9"/>
    <p:sldId id="269"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5" r:id="rId23"/>
    <p:sldId id="286" r:id="rId24"/>
    <p:sldId id="288" r:id="rId2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14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EA524C0-65E5-4CA6-BAFD-4EC39A79F108}">
  <a:tblStyle styleId="{4EA524C0-65E5-4CA6-BAFD-4EC39A79F10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96"/>
      </p:cViewPr>
      <p:guideLst>
        <p:guide orient="horz" pos="1144"/>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309"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g36e6630307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 name="Google Shape;48;g36e663030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You would evaluate typically based on competing works discovered through a literature review.</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
        <p:cNvGrpSpPr/>
        <p:nvPr/>
      </p:nvGrpSpPr>
      <p:grpSpPr>
        <a:xfrm>
          <a:off x="0" y="0"/>
          <a:ext cx="0" cy="0"/>
          <a:chOff x="0" y="0"/>
          <a:chExt cx="0" cy="0"/>
        </a:xfrm>
      </p:grpSpPr>
      <p:sp>
        <p:nvSpPr>
          <p:cNvPr id="54" name="Google Shape;54;g344900e92d1_0_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 name="Google Shape;55;g344900e92d1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44900e92d1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44900e92d1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Clr>
                <a:schemeClr val="dk1"/>
              </a:buClr>
              <a:buSzPts val="1100"/>
              <a:buFont typeface="Arial"/>
              <a:buNone/>
            </a:pPr>
            <a:r>
              <a:rPr lang="en" sz="1000"/>
              <a:t>Let’s take a look at another way we can approach this problem through topic modelling.</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g344900e92d1_0_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344900e92d1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44900e92d1_0_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44900e92d1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Instead of using individual keywords, topics can provide semantic context across groups. –End:  Given the importance of topic modelling for determining publication readiness, we will address implementation challenges through our research goals.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44900e92d1_0_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44900e92d1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4494072fed_0_9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4494072fed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44900e92d1_0_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44900e92d1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344900e92d1_0_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344900e92d1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4494072fed_0_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4494072fe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our clustering experiments, we use a sentence embedding model.  Go through this slide.  Though this is a high performer for most general text cases, there can be additional domain text challenges.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44900e92d1_0_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44900e92d1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44900e92d1_0_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44900e92d1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2100" algn="l" rtl="0">
              <a:spcBef>
                <a:spcPts val="480"/>
              </a:spcBef>
              <a:spcAft>
                <a:spcPts val="0"/>
              </a:spcAft>
              <a:buClr>
                <a:schemeClr val="dk1"/>
              </a:buClr>
              <a:buSzPts val="1000"/>
              <a:buChar char="•"/>
            </a:pPr>
            <a:r>
              <a:rPr lang="en" sz="1000">
                <a:solidFill>
                  <a:schemeClr val="dk1"/>
                </a:solidFill>
              </a:rPr>
              <a:t>Text to Vector transformation is often some form of a matrix of word or phrase(n-gram) frequency </a:t>
            </a:r>
            <a:endParaRPr sz="1000">
              <a:solidFill>
                <a:schemeClr val="dk1"/>
              </a:solidFill>
            </a:endParaRPr>
          </a:p>
          <a:p>
            <a:pPr marL="457200" lvl="0" indent="-292100" algn="l" rtl="0">
              <a:spcBef>
                <a:spcPts val="0"/>
              </a:spcBef>
              <a:spcAft>
                <a:spcPts val="0"/>
              </a:spcAft>
              <a:buClr>
                <a:schemeClr val="dk1"/>
              </a:buClr>
              <a:buSzPts val="1000"/>
              <a:buChar char="•"/>
            </a:pPr>
            <a:r>
              <a:rPr lang="en" sz="1000">
                <a:solidFill>
                  <a:schemeClr val="dk1"/>
                </a:solidFill>
              </a:rPr>
              <a:t>Less frequent terms result in a matrix with many zeros</a:t>
            </a:r>
            <a:endParaRPr sz="1000">
              <a:solidFill>
                <a:schemeClr val="dk1"/>
              </a:solidFill>
            </a:endParaRPr>
          </a:p>
          <a:p>
            <a:pPr marL="457200" lvl="0" indent="-292100" algn="l" rtl="0">
              <a:spcBef>
                <a:spcPts val="0"/>
              </a:spcBef>
              <a:spcAft>
                <a:spcPts val="0"/>
              </a:spcAft>
              <a:buClr>
                <a:schemeClr val="dk1"/>
              </a:buClr>
              <a:buSzPts val="1000"/>
              <a:buChar char="•"/>
            </a:pPr>
            <a:r>
              <a:rPr lang="en" sz="1000">
                <a:solidFill>
                  <a:schemeClr val="dk1"/>
                </a:solidFill>
              </a:rPr>
              <a:t>This results in data sparsity (e.g., sparse matrix)</a:t>
            </a:r>
            <a:endParaRPr sz="1000">
              <a:solidFill>
                <a:schemeClr val="dk1"/>
              </a:solidFill>
            </a:endParaRPr>
          </a:p>
          <a:p>
            <a:pPr marL="457200" lvl="0" indent="-292100" algn="l" rtl="0">
              <a:spcBef>
                <a:spcPts val="0"/>
              </a:spcBef>
              <a:spcAft>
                <a:spcPts val="0"/>
              </a:spcAft>
              <a:buClr>
                <a:schemeClr val="dk1"/>
              </a:buClr>
              <a:buSzPts val="1000"/>
              <a:buChar char="•"/>
            </a:pPr>
            <a:r>
              <a:rPr lang="en" sz="1000">
                <a:solidFill>
                  <a:schemeClr val="dk1"/>
                </a:solidFill>
              </a:rPr>
              <a:t>Document outliers are unique data points that typically can not be semantically grouped</a:t>
            </a:r>
            <a:endParaRPr sz="10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344900e92d1_0_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344900e92d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44900e92d1_0_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344900e92d1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44900e92d1_0_10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44900e92d1_0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44900e92d1_0_1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44900e92d1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Clr>
                <a:schemeClr val="dk1"/>
              </a:buClr>
              <a:buSzPts val="1100"/>
              <a:buFont typeface="Arial"/>
              <a:buNone/>
            </a:pPr>
            <a:r>
              <a:rPr lang="en">
                <a:solidFill>
                  <a:schemeClr val="dk1"/>
                </a:solidFill>
              </a:rPr>
              <a:t>UMAP is based upon manifold learning, which means instead of a flat plane, it observes points on</a:t>
            </a:r>
            <a:endParaRPr>
              <a:solidFill>
                <a:schemeClr val="dk1"/>
              </a:solidFill>
            </a:endParaRPr>
          </a:p>
          <a:p>
            <a:pPr marL="0" lvl="0" indent="0" algn="l" rtl="0">
              <a:spcBef>
                <a:spcPts val="480"/>
              </a:spcBef>
              <a:spcAft>
                <a:spcPts val="0"/>
              </a:spcAft>
              <a:buClr>
                <a:schemeClr val="dk1"/>
              </a:buClr>
              <a:buSzPts val="1100"/>
              <a:buFont typeface="Arial"/>
              <a:buNone/>
            </a:pPr>
            <a:r>
              <a:rPr lang="en">
                <a:solidFill>
                  <a:schemeClr val="dk1"/>
                </a:solidFill>
              </a:rPr>
              <a:t>a lower dimension, curved manifold structure (e.g., a geometric representation of neighborhood</a:t>
            </a:r>
            <a:endParaRPr>
              <a:solidFill>
                <a:schemeClr val="dk1"/>
              </a:solidFill>
            </a:endParaRPr>
          </a:p>
          <a:p>
            <a:pPr marL="0" lvl="0" indent="0" algn="l" rtl="0">
              <a:spcBef>
                <a:spcPts val="480"/>
              </a:spcBef>
              <a:spcAft>
                <a:spcPts val="0"/>
              </a:spcAft>
              <a:buClr>
                <a:schemeClr val="dk1"/>
              </a:buClr>
              <a:buSzPts val="1100"/>
              <a:buFont typeface="Arial"/>
              <a:buNone/>
            </a:pPr>
            <a:r>
              <a:rPr lang="en">
                <a:solidFill>
                  <a:schemeClr val="dk1"/>
                </a:solidFill>
              </a:rPr>
              <a:t>pairwise distances) [McI18]. It then creates a low-dimensional plane using these local manifold</a:t>
            </a:r>
            <a:endParaRPr>
              <a:solidFill>
                <a:schemeClr val="dk1"/>
              </a:solidFill>
            </a:endParaRPr>
          </a:p>
          <a:p>
            <a:pPr marL="0" lvl="0" indent="0" algn="l" rtl="0">
              <a:spcBef>
                <a:spcPts val="480"/>
              </a:spcBef>
              <a:spcAft>
                <a:spcPts val="0"/>
              </a:spcAft>
              <a:buClr>
                <a:schemeClr val="dk1"/>
              </a:buClr>
              <a:buSzPts val="1100"/>
              <a:buFont typeface="Arial"/>
              <a:buNone/>
            </a:pPr>
            <a:r>
              <a:rPr lang="en">
                <a:solidFill>
                  <a:schemeClr val="dk1"/>
                </a:solidFill>
              </a:rPr>
              <a:t>approximations. The final topic graph is optimized by minimizing the cross entropy loss between</a:t>
            </a:r>
            <a:endParaRPr>
              <a:solidFill>
                <a:schemeClr val="dk1"/>
              </a:solidFill>
            </a:endParaRPr>
          </a:p>
          <a:p>
            <a:pPr marL="0" lvl="0" indent="0" algn="l" rtl="0">
              <a:spcBef>
                <a:spcPts val="480"/>
              </a:spcBef>
              <a:spcAft>
                <a:spcPts val="0"/>
              </a:spcAft>
              <a:buClr>
                <a:schemeClr val="dk1"/>
              </a:buClr>
              <a:buSzPts val="1100"/>
              <a:buFont typeface="Arial"/>
              <a:buNone/>
            </a:pPr>
            <a:r>
              <a:rPr lang="en">
                <a:solidFill>
                  <a:schemeClr val="dk1"/>
                </a:solidFill>
              </a:rPr>
              <a:t>the original structure and lower-dimension plane.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344900e92d1_0_1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344900e92d1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44900e92d1_0_1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0" name="Google Shape;190;g344900e92d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significant portion of the data can result in global clusters if there are not strong local relationships.  Even though these global clusters can contain multiple subtopics, we would still like to be able to use them.  Thus, we will Jaccard Similarity in an effort to better optimize these clusters.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44900e92d1_0_1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44900e92d1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Slide from 890 presentation</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Measures overlap between two sets</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Ratio of similar words to total unique words.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44900e92d1_0_1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44900e92d1_0_1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g344900e92d1_0_1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344900e92d1_0_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6e66303072_0_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6e66303072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6e66303072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6e66303072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685800" y="2130425"/>
            <a:ext cx="7772400" cy="14700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1pPr>
            <a:lvl2pPr marL="0" marR="0" lvl="1"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L="0" marR="0" lvl="2"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L="0" marR="0" lvl="3"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L="0" marR="0" lvl="4"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L="457200" marR="0" lvl="5"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L="914400" marR="0" lvl="6"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L="1371600" marR="0" lvl="7"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L="1828800" marR="0" lvl="8"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12" name="Google Shape;12;p2"/>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L="0" marR="0" lvl="0" indent="0" algn="ctr" rtl="0">
              <a:spcBef>
                <a:spcPts val="48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1pPr>
            <a:lvl2pPr marL="457200" marR="0" lvl="1" indent="0" algn="ctr" rtl="0">
              <a:spcBef>
                <a:spcPts val="480"/>
              </a:spcBef>
              <a:spcAft>
                <a:spcPts val="0"/>
              </a:spcAft>
              <a:buClr>
                <a:srgbClr val="888888"/>
              </a:buClr>
              <a:buSzPts val="2400"/>
              <a:buFont typeface="Arial"/>
              <a:buNone/>
              <a:defRPr sz="2400" b="0" i="0" u="none" strike="noStrike" cap="none">
                <a:solidFill>
                  <a:srgbClr val="888888"/>
                </a:solidFill>
                <a:latin typeface="Arial"/>
                <a:ea typeface="Arial"/>
                <a:cs typeface="Arial"/>
                <a:sym typeface="Arial"/>
              </a:defRPr>
            </a:lvl2pPr>
            <a:lvl3pPr marL="914400" marR="0" lvl="2" indent="0" algn="ctr" rtl="0">
              <a:spcBef>
                <a:spcPts val="360"/>
              </a:spcBef>
              <a:spcAft>
                <a:spcPts val="0"/>
              </a:spcAft>
              <a:buClr>
                <a:srgbClr val="888888"/>
              </a:buClr>
              <a:buSzPts val="1800"/>
              <a:buFont typeface="Arial"/>
              <a:buNone/>
              <a:defRPr sz="1800" b="0" i="0" u="none" strike="noStrike" cap="none">
                <a:solidFill>
                  <a:srgbClr val="888888"/>
                </a:solidFill>
                <a:latin typeface="Arial"/>
                <a:ea typeface="Arial"/>
                <a:cs typeface="Arial"/>
                <a:sym typeface="Arial"/>
              </a:defRPr>
            </a:lvl3pPr>
            <a:lvl4pPr marL="1371600" marR="0" lvl="3" indent="0" algn="ctr" rtl="0">
              <a:spcBef>
                <a:spcPts val="280"/>
              </a:spcBef>
              <a:spcAft>
                <a:spcPts val="0"/>
              </a:spcAft>
              <a:buClr>
                <a:srgbClr val="888888"/>
              </a:buClr>
              <a:buSzPts val="1400"/>
              <a:buFont typeface="Arial"/>
              <a:buNone/>
              <a:defRPr sz="1400" b="0" i="0" u="none" strike="noStrike" cap="none">
                <a:solidFill>
                  <a:srgbClr val="888888"/>
                </a:solidFill>
                <a:latin typeface="Arial"/>
                <a:ea typeface="Arial"/>
                <a:cs typeface="Arial"/>
                <a:sym typeface="Arial"/>
              </a:defRPr>
            </a:lvl4pPr>
            <a:lvl5pPr marL="1828800" marR="0" lvl="4" indent="0" algn="ctr" rtl="0">
              <a:spcBef>
                <a:spcPts val="200"/>
              </a:spcBef>
              <a:spcAft>
                <a:spcPts val="0"/>
              </a:spcAft>
              <a:buClr>
                <a:srgbClr val="888888"/>
              </a:buClr>
              <a:buSzPts val="1000"/>
              <a:buFont typeface="Arial"/>
              <a:buNone/>
              <a:defRPr sz="10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457200" y="6356350"/>
            <a:ext cx="2133600" cy="3651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124200" y="6356350"/>
            <a:ext cx="2895600" cy="3651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457200" y="900113"/>
            <a:ext cx="8229600" cy="10683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1pPr>
            <a:lvl2pPr marL="0" marR="0" lvl="1"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L="0" marR="0" lvl="2"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L="0" marR="0" lvl="3"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L="0" marR="0" lvl="4"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L="457200" marR="0" lvl="5"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L="914400" marR="0" lvl="6"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L="1371600" marR="0" lvl="7"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L="1828800" marR="0" lvl="8"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18" name="Google Shape;18;p3"/>
          <p:cNvSpPr txBox="1">
            <a:spLocks noGrp="1"/>
          </p:cNvSpPr>
          <p:nvPr>
            <p:ph type="body" idx="1"/>
          </p:nvPr>
        </p:nvSpPr>
        <p:spPr>
          <a:xfrm>
            <a:off x="457200" y="3022600"/>
            <a:ext cx="8229600" cy="3103500"/>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457200" y="6356350"/>
            <a:ext cx="2133600" cy="3651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124200" y="6356350"/>
            <a:ext cx="2895600" cy="3651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457200" y="900113"/>
            <a:ext cx="8229600" cy="10683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1pPr>
            <a:lvl2pPr marL="0" marR="0" lvl="1"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L="0" marR="0" lvl="2"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L="0" marR="0" lvl="3"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L="0" marR="0" lvl="4"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L="457200" marR="0" lvl="5"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L="914400" marR="0" lvl="6"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L="1371600" marR="0" lvl="7"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L="1828800" marR="0" lvl="8"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24" name="Google Shape;24;p4"/>
          <p:cNvSpPr txBox="1">
            <a:spLocks noGrp="1"/>
          </p:cNvSpPr>
          <p:nvPr>
            <p:ph type="body" idx="1"/>
          </p:nvPr>
        </p:nvSpPr>
        <p:spPr>
          <a:xfrm>
            <a:off x="457200" y="1968500"/>
            <a:ext cx="4038600" cy="4157700"/>
          </a:xfrm>
          <a:prstGeom prst="rect">
            <a:avLst/>
          </a:prstGeom>
          <a:noFill/>
          <a:ln>
            <a:noFill/>
          </a:ln>
        </p:spPr>
        <p:txBody>
          <a:bodyPr spcFirstLastPara="1" wrap="square" lIns="91425" tIns="91425" rIns="91425" bIns="91425"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body" idx="2"/>
          </p:nvPr>
        </p:nvSpPr>
        <p:spPr>
          <a:xfrm>
            <a:off x="4648200" y="1968500"/>
            <a:ext cx="4038600" cy="4157700"/>
          </a:xfrm>
          <a:prstGeom prst="rect">
            <a:avLst/>
          </a:prstGeom>
          <a:noFill/>
          <a:ln>
            <a:noFill/>
          </a:ln>
        </p:spPr>
        <p:txBody>
          <a:bodyPr spcFirstLastPara="1" wrap="square" lIns="91425" tIns="91425" rIns="91425" bIns="91425" anchor="t" anchorCtr="0">
            <a:no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dt" idx="10"/>
          </p:nvPr>
        </p:nvSpPr>
        <p:spPr>
          <a:xfrm>
            <a:off x="457200" y="6356350"/>
            <a:ext cx="2133600" cy="3651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ftr" idx="11"/>
          </p:nvPr>
        </p:nvSpPr>
        <p:spPr>
          <a:xfrm>
            <a:off x="3124200" y="6356350"/>
            <a:ext cx="2895600" cy="3651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8" name="Google Shape;28;p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900113"/>
            <a:ext cx="8229600" cy="10683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1pPr>
            <a:lvl2pPr marL="0" marR="0" lvl="1"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L="0" marR="0" lvl="2"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L="0" marR="0" lvl="3"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L="0" marR="0" lvl="4"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L="457200" marR="0" lvl="5"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L="914400" marR="0" lvl="6"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L="1371600" marR="0" lvl="7"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L="1828800" marR="0" lvl="8"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31" name="Google Shape;31;p5"/>
          <p:cNvSpPr txBox="1">
            <a:spLocks noGrp="1"/>
          </p:cNvSpPr>
          <p:nvPr>
            <p:ph type="dt" idx="10"/>
          </p:nvPr>
        </p:nvSpPr>
        <p:spPr>
          <a:xfrm>
            <a:off x="457200" y="6356350"/>
            <a:ext cx="2133600" cy="365100"/>
          </a:xfrm>
          <a:prstGeom prst="rect">
            <a:avLst/>
          </a:prstGeom>
          <a:noFill/>
          <a:ln>
            <a:noFill/>
          </a:ln>
        </p:spPr>
        <p:txBody>
          <a:bodyPr spcFirstLastPara="1" wrap="square" lIns="91425" tIns="91425" rIns="91425" bIns="91425" anchor="ctr" anchorCtr="0">
            <a:noAutofit/>
          </a:bodyPr>
          <a:lstStyle>
            <a:lvl1pPr marL="0" marR="0" lvl="0" indent="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ftr" idx="11"/>
          </p:nvPr>
        </p:nvSpPr>
        <p:spPr>
          <a:xfrm>
            <a:off x="3124200" y="6356350"/>
            <a:ext cx="2895600" cy="3651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4"/>
        <p:cNvGrpSpPr/>
        <p:nvPr/>
      </p:nvGrpSpPr>
      <p:grpSpPr>
        <a:xfrm>
          <a:off x="0" y="0"/>
          <a:ext cx="0" cy="0"/>
          <a:chOff x="0" y="0"/>
          <a:chExt cx="0" cy="0"/>
        </a:xfrm>
      </p:grpSpPr>
      <p:sp>
        <p:nvSpPr>
          <p:cNvPr id="35" name="Google Shape;35;p6"/>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900113"/>
            <a:ext cx="8229600" cy="1068300"/>
          </a:xfrm>
          <a:prstGeom prst="rect">
            <a:avLst/>
          </a:prstGeom>
          <a:noFill/>
          <a:ln>
            <a:noFill/>
          </a:ln>
        </p:spPr>
        <p:txBody>
          <a:bodyPr spcFirstLastPara="1" wrap="square" lIns="91425" tIns="91425" rIns="91425" bIns="91425" anchor="ctr" anchorCtr="0">
            <a:noAutofit/>
          </a:bodyPr>
          <a:lstStyle>
            <a:lvl1pPr marL="0" marR="0" lvl="0"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1pPr>
            <a:lvl2pPr marL="0" marR="0" lvl="1"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2pPr>
            <a:lvl3pPr marL="0" marR="0" lvl="2"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3pPr>
            <a:lvl4pPr marL="0" marR="0" lvl="3"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4pPr>
            <a:lvl5pPr marL="0" marR="0" lvl="4"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5pPr>
            <a:lvl6pPr marL="457200" marR="0" lvl="5"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6pPr>
            <a:lvl7pPr marL="914400" marR="0" lvl="6"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7pPr>
            <a:lvl8pPr marL="1371600" marR="0" lvl="7"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8pPr>
            <a:lvl9pPr marL="1828800" marR="0" lvl="8" indent="0" algn="ctr" rtl="0">
              <a:spcBef>
                <a:spcPts val="0"/>
              </a:spcBef>
              <a:spcAft>
                <a:spcPts val="0"/>
              </a:spcAft>
              <a:buSzPts val="1400"/>
              <a:buNone/>
              <a:defRPr sz="3200" b="1"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3022600"/>
            <a:ext cx="8229600" cy="3103500"/>
          </a:xfrm>
          <a:prstGeom prst="rect">
            <a:avLst/>
          </a:prstGeom>
          <a:noFill/>
          <a:ln>
            <a:noFill/>
          </a:ln>
        </p:spPr>
        <p:txBody>
          <a:bodyPr spcFirstLastPara="1" wrap="square" lIns="91425" tIns="91425" rIns="91425" bIns="91425" anchor="t" anchorCtr="0">
            <a:no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17500" algn="l" rtl="0">
              <a:spcBef>
                <a:spcPts val="28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b="0" i="0" u="none" strike="noStrike" cap="none">
                <a:solidFill>
                  <a:srgbClr val="888888"/>
                </a:solidFill>
                <a:latin typeface="Calibri"/>
                <a:ea typeface="Calibri"/>
                <a:cs typeface="Calibri"/>
                <a:sym typeface="Calibri"/>
              </a:defRPr>
            </a:lvl1pPr>
            <a:lvl2pPr marL="0" marR="0" lvl="1" indent="0" algn="r" rtl="0">
              <a:spcBef>
                <a:spcPts val="0"/>
              </a:spcBef>
              <a:spcAft>
                <a:spcPts val="0"/>
              </a:spcAft>
              <a:buNone/>
              <a:defRPr sz="1200" b="0" i="0" u="none" strike="noStrike" cap="none">
                <a:solidFill>
                  <a:srgbClr val="888888"/>
                </a:solidFill>
                <a:latin typeface="Calibri"/>
                <a:ea typeface="Calibri"/>
                <a:cs typeface="Calibri"/>
                <a:sym typeface="Calibri"/>
              </a:defRPr>
            </a:lvl2pPr>
            <a:lvl3pPr marL="0" marR="0" lvl="2" indent="0" algn="r" rtl="0">
              <a:spcBef>
                <a:spcPts val="0"/>
              </a:spcBef>
              <a:spcAft>
                <a:spcPts val="0"/>
              </a:spcAft>
              <a:buNone/>
              <a:defRPr sz="1200" b="0" i="0" u="none" strike="noStrike" cap="none">
                <a:solidFill>
                  <a:srgbClr val="888888"/>
                </a:solidFill>
                <a:latin typeface="Calibri"/>
                <a:ea typeface="Calibri"/>
                <a:cs typeface="Calibri"/>
                <a:sym typeface="Calibri"/>
              </a:defRPr>
            </a:lvl3pPr>
            <a:lvl4pPr marL="0" marR="0" lvl="3" indent="0" algn="r" rtl="0">
              <a:spcBef>
                <a:spcPts val="0"/>
              </a:spcBef>
              <a:spcAft>
                <a:spcPts val="0"/>
              </a:spcAft>
              <a:buNone/>
              <a:defRPr sz="1200" b="0" i="0" u="none" strike="noStrike" cap="none">
                <a:solidFill>
                  <a:srgbClr val="888888"/>
                </a:solidFill>
                <a:latin typeface="Calibri"/>
                <a:ea typeface="Calibri"/>
                <a:cs typeface="Calibri"/>
                <a:sym typeface="Calibri"/>
              </a:defRPr>
            </a:lvl4pPr>
            <a:lvl5pPr marL="0" marR="0" lvl="4" indent="0" algn="r" rtl="0">
              <a:spcBef>
                <a:spcPts val="0"/>
              </a:spcBef>
              <a:spcAft>
                <a:spcPts val="0"/>
              </a:spcAft>
              <a:buNone/>
              <a:defRPr sz="1200" b="0" i="0" u="none" strike="noStrike" cap="none">
                <a:solidFill>
                  <a:srgbClr val="888888"/>
                </a:solidFill>
                <a:latin typeface="Calibri"/>
                <a:ea typeface="Calibri"/>
                <a:cs typeface="Calibri"/>
                <a:sym typeface="Calibri"/>
              </a:defRPr>
            </a:lvl5pPr>
            <a:lvl6pPr marL="0" marR="0" lvl="5" indent="0" algn="r" rtl="0">
              <a:spcBef>
                <a:spcPts val="0"/>
              </a:spcBef>
              <a:spcAft>
                <a:spcPts val="0"/>
              </a:spcAft>
              <a:buNone/>
              <a:defRPr sz="1200" b="0" i="0" u="none" strike="noStrike" cap="none">
                <a:solidFill>
                  <a:srgbClr val="888888"/>
                </a:solidFill>
                <a:latin typeface="Calibri"/>
                <a:ea typeface="Calibri"/>
                <a:cs typeface="Calibri"/>
                <a:sym typeface="Calibri"/>
              </a:defRPr>
            </a:lvl6pPr>
            <a:lvl7pPr marL="0" marR="0" lvl="6" indent="0" algn="r" rtl="0">
              <a:spcBef>
                <a:spcPts val="0"/>
              </a:spcBef>
              <a:spcAft>
                <a:spcPts val="0"/>
              </a:spcAft>
              <a:buNone/>
              <a:defRPr sz="1200" b="0" i="0" u="none" strike="noStrike" cap="none">
                <a:solidFill>
                  <a:srgbClr val="888888"/>
                </a:solidFill>
                <a:latin typeface="Calibri"/>
                <a:ea typeface="Calibri"/>
                <a:cs typeface="Calibri"/>
                <a:sym typeface="Calibri"/>
              </a:defRPr>
            </a:lvl7pPr>
            <a:lvl8pPr marL="0" marR="0" lvl="7" indent="0" algn="r" rtl="0">
              <a:spcBef>
                <a:spcPts val="0"/>
              </a:spcBef>
              <a:spcAft>
                <a:spcPts val="0"/>
              </a:spcAft>
              <a:buNone/>
              <a:defRPr sz="1200" b="0" i="0" u="none" strike="noStrike" cap="none">
                <a:solidFill>
                  <a:srgbClr val="888888"/>
                </a:solidFill>
                <a:latin typeface="Calibri"/>
                <a:ea typeface="Calibri"/>
                <a:cs typeface="Calibri"/>
                <a:sym typeface="Calibri"/>
              </a:defRPr>
            </a:lvl8pPr>
            <a:lvl9pPr marL="0" marR="0" lvl="8" indent="0" algn="r" rtl="0">
              <a:spcBef>
                <a:spcPts val="0"/>
              </a:spcBef>
              <a:spcAft>
                <a:spcPts val="0"/>
              </a:spcAft>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pic>
        <p:nvPicPr>
          <p:cNvPr id="9" name="Google Shape;9;p1"/>
          <p:cNvPicPr preferRelativeResize="0"/>
          <p:nvPr/>
        </p:nvPicPr>
        <p:blipFill rotWithShape="1">
          <a:blip r:embed="rId7">
            <a:alphaModFix/>
          </a:blip>
          <a:srcRect/>
          <a:stretch/>
        </p:blipFill>
        <p:spPr>
          <a:xfrm>
            <a:off x="0" y="0"/>
            <a:ext cx="9144000" cy="4572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connectedpapers.com"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8"/>
          <p:cNvSpPr txBox="1">
            <a:spLocks noGrp="1"/>
          </p:cNvSpPr>
          <p:nvPr>
            <p:ph type="ctrTitle"/>
          </p:nvPr>
        </p:nvSpPr>
        <p:spPr>
          <a:xfrm>
            <a:off x="762000" y="1139825"/>
            <a:ext cx="7772400" cy="1470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Topic Comparison for Personalized Research Evaluation</a:t>
            </a:r>
            <a:endParaRPr dirty="0"/>
          </a:p>
        </p:txBody>
      </p:sp>
      <p:sp>
        <p:nvSpPr>
          <p:cNvPr id="45" name="Google Shape;45;p8"/>
          <p:cNvSpPr txBox="1">
            <a:spLocks noGrp="1"/>
          </p:cNvSpPr>
          <p:nvPr>
            <p:ph type="subTitle" idx="1"/>
          </p:nvPr>
        </p:nvSpPr>
        <p:spPr>
          <a:xfrm>
            <a:off x="1371600" y="3886200"/>
            <a:ext cx="6400800" cy="1752600"/>
          </a:xfrm>
          <a:prstGeom prst="rect">
            <a:avLst/>
          </a:prstGeom>
        </p:spPr>
        <p:txBody>
          <a:bodyPr spcFirstLastPara="1" wrap="square" lIns="91425" tIns="91425" rIns="91425" bIns="91425" anchor="t" anchorCtr="0">
            <a:noAutofit/>
          </a:bodyPr>
          <a:lstStyle/>
          <a:p>
            <a:pPr marL="0" lvl="0" indent="0" algn="ctr" rtl="0">
              <a:spcBef>
                <a:spcPts val="480"/>
              </a:spcBef>
              <a:spcAft>
                <a:spcPts val="0"/>
              </a:spcAft>
              <a:buNone/>
            </a:pPr>
            <a:r>
              <a:rPr lang="en"/>
              <a:t>Angela Zhang</a:t>
            </a:r>
            <a:endParaRPr/>
          </a:p>
          <a:p>
            <a:pPr marL="0" lvl="0" indent="0" algn="ctr" rtl="0">
              <a:spcBef>
                <a:spcPts val="480"/>
              </a:spcBef>
              <a:spcAft>
                <a:spcPts val="0"/>
              </a:spcAft>
              <a:buNone/>
            </a:pPr>
            <a:r>
              <a:rPr lang="en"/>
              <a:t>Under the direction of Dr. Christopher Healey</a:t>
            </a:r>
            <a:endParaRPr/>
          </a:p>
          <a:p>
            <a:pPr marL="0" lvl="0" indent="0" algn="ctr" rtl="0">
              <a:spcBef>
                <a:spcPts val="480"/>
              </a:spcBef>
              <a:spcAft>
                <a:spcPts val="0"/>
              </a:spcAft>
              <a:buNone/>
            </a:pPr>
            <a:endParaRPr/>
          </a:p>
          <a:p>
            <a:pPr marL="0" lvl="0" indent="0" algn="ctr" rtl="0">
              <a:spcBef>
                <a:spcPts val="480"/>
              </a:spcBef>
              <a:spcAft>
                <a:spcPts val="0"/>
              </a:spcAft>
              <a:buNone/>
            </a:pPr>
            <a:r>
              <a:rPr lang="en"/>
              <a:t>Committee:  Dr. James Lester, Dr. Jung-Eun Kim, and Dr. Rada Chirkova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9"/>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Motivation</a:t>
            </a:r>
            <a:endParaRPr/>
          </a:p>
        </p:txBody>
      </p:sp>
      <p:sp>
        <p:nvSpPr>
          <p:cNvPr id="51" name="Google Shape;51;p9"/>
          <p:cNvSpPr txBox="1">
            <a:spLocks noGrp="1"/>
          </p:cNvSpPr>
          <p:nvPr>
            <p:ph type="body" idx="1"/>
          </p:nvPr>
        </p:nvSpPr>
        <p:spPr>
          <a:xfrm>
            <a:off x="457200" y="1816025"/>
            <a:ext cx="8145300" cy="2789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Evaluating quality of a potential submission is hard for someone less experienced  </a:t>
            </a:r>
            <a:endParaRPr/>
          </a:p>
          <a:p>
            <a:pPr marL="457200" lvl="0" indent="-342900" algn="l" rtl="0">
              <a:spcBef>
                <a:spcPts val="1000"/>
              </a:spcBef>
              <a:spcAft>
                <a:spcPts val="0"/>
              </a:spcAft>
              <a:buSzPts val="1800"/>
              <a:buChar char="●"/>
            </a:pPr>
            <a:r>
              <a:rPr lang="en" sz="1800" b="1"/>
              <a:t>That difficulty can apply to most researchers:</a:t>
            </a:r>
            <a:r>
              <a:rPr lang="en" sz="1800"/>
              <a:t> applying to less familiar venues, developing new research focus, or changing research focus</a:t>
            </a:r>
            <a:endParaRPr sz="1800"/>
          </a:p>
          <a:p>
            <a:pPr marL="457200" lvl="0" indent="-342900" algn="l" rtl="0">
              <a:spcBef>
                <a:spcPts val="1000"/>
              </a:spcBef>
              <a:spcAft>
                <a:spcPts val="0"/>
              </a:spcAft>
              <a:buSzPts val="1800"/>
              <a:buChar char="●"/>
            </a:pPr>
            <a:r>
              <a:rPr lang="en" sz="1800" b="1"/>
              <a:t>Evolving “relevant” research priorities</a:t>
            </a:r>
            <a:r>
              <a:rPr lang="en" sz="1800"/>
              <a:t> from top conferences require constant learning of topic landscape (e.g., “LLM-related” research papers grew from 503 in 2019 to 7109 in 2024)</a:t>
            </a:r>
            <a:r>
              <a:rPr lang="en" sz="1000"/>
              <a:t>Xia, Et al.</a:t>
            </a:r>
            <a:endParaRPr sz="1000"/>
          </a:p>
          <a:p>
            <a:pPr marL="457200" lvl="0" indent="-342900" algn="l" rtl="0">
              <a:spcBef>
                <a:spcPts val="1000"/>
              </a:spcBef>
              <a:spcAft>
                <a:spcPts val="0"/>
              </a:spcAft>
              <a:buSzPts val="1800"/>
              <a:buChar char="●"/>
            </a:pPr>
            <a:r>
              <a:rPr lang="en" sz="1800" b="1"/>
              <a:t>Actionable insight are not always provided</a:t>
            </a:r>
            <a:r>
              <a:rPr lang="en" sz="1800"/>
              <a:t> from conferenced reviewed peer feedback, even after extended waiting periods </a:t>
            </a:r>
            <a:endParaRPr sz="1800"/>
          </a:p>
          <a:p>
            <a:pPr marL="457200" lvl="0" indent="-342900" algn="l" rtl="0">
              <a:spcBef>
                <a:spcPts val="1000"/>
              </a:spcBef>
              <a:spcAft>
                <a:spcPts val="0"/>
              </a:spcAft>
              <a:buSzPts val="1800"/>
              <a:buChar char="●"/>
            </a:pPr>
            <a:r>
              <a:rPr lang="en" sz="1800" b="1"/>
              <a:t>Automated topic evaluation</a:t>
            </a:r>
            <a:r>
              <a:rPr lang="en" sz="1800"/>
              <a:t> for author research landscape would enable better decision making in selecting venues, adjusting research framework, and prioritizing conference deadlines</a:t>
            </a:r>
            <a:endParaRPr sz="1800"/>
          </a:p>
          <a:p>
            <a:pPr marL="0" lvl="0" indent="0" algn="l" rtl="0">
              <a:spcBef>
                <a:spcPts val="1000"/>
              </a:spcBef>
              <a:spcAft>
                <a:spcPts val="1000"/>
              </a:spcAft>
              <a:buNone/>
            </a:pPr>
            <a:r>
              <a:rPr lang="en" sz="1800"/>
              <a:t> </a:t>
            </a:r>
            <a:endParaRPr sz="1800"/>
          </a:p>
        </p:txBody>
      </p:sp>
      <p:sp>
        <p:nvSpPr>
          <p:cNvPr id="52" name="Google Shape;52;p9"/>
          <p:cNvSpPr txBox="1"/>
          <p:nvPr/>
        </p:nvSpPr>
        <p:spPr>
          <a:xfrm>
            <a:off x="3129950" y="6228900"/>
            <a:ext cx="3658200" cy="34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rPr>
              <a:t>Xia, Et al. “</a:t>
            </a:r>
            <a:r>
              <a:rPr lang="en" sz="1000">
                <a:solidFill>
                  <a:schemeClr val="dk1"/>
                </a:solidFill>
                <a:highlight>
                  <a:srgbClr val="FFFFFF"/>
                </a:highlight>
              </a:rPr>
              <a:t>Analyzing 16,193 LLM Papers for Fun and Profits.”</a:t>
            </a:r>
            <a:endParaRPr sz="1000">
              <a:solidFill>
                <a:schemeClr val="dk1"/>
              </a:solidFill>
              <a:highlight>
                <a:srgbClr val="FFFFFF"/>
              </a:highlight>
            </a:endParaRPr>
          </a:p>
          <a:p>
            <a:pPr marL="0" lvl="0" indent="0" algn="l" rtl="0">
              <a:spcBef>
                <a:spcPts val="0"/>
              </a:spcBef>
              <a:spcAft>
                <a:spcPts val="0"/>
              </a:spcAft>
              <a:buNone/>
            </a:pPr>
            <a:endParaRPr sz="1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6"/>
        <p:cNvGrpSpPr/>
        <p:nvPr/>
      </p:nvGrpSpPr>
      <p:grpSpPr>
        <a:xfrm>
          <a:off x="0" y="0"/>
          <a:ext cx="0" cy="0"/>
          <a:chOff x="0" y="0"/>
          <a:chExt cx="0" cy="0"/>
        </a:xfrm>
      </p:grpSpPr>
      <p:sp>
        <p:nvSpPr>
          <p:cNvPr id="57" name="Google Shape;57;p10"/>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Manual Literature Review </a:t>
            </a:r>
            <a:endParaRPr/>
          </a:p>
          <a:p>
            <a:pPr marL="0" lvl="0" indent="0" algn="ctr" rtl="0">
              <a:spcBef>
                <a:spcPts val="0"/>
              </a:spcBef>
              <a:spcAft>
                <a:spcPts val="0"/>
              </a:spcAft>
              <a:buNone/>
            </a:pPr>
            <a:r>
              <a:rPr lang="en"/>
              <a:t>Common Challenges</a:t>
            </a:r>
            <a:endParaRPr/>
          </a:p>
        </p:txBody>
      </p:sp>
      <p:sp>
        <p:nvSpPr>
          <p:cNvPr id="58" name="Google Shape;58;p10"/>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457200" lvl="0" indent="-342900" algn="l" rtl="0">
              <a:spcBef>
                <a:spcPts val="480"/>
              </a:spcBef>
              <a:spcAft>
                <a:spcPts val="0"/>
              </a:spcAft>
              <a:buSzPts val="1800"/>
              <a:buChar char="•"/>
            </a:pPr>
            <a:r>
              <a:rPr lang="en" sz="1800" b="1"/>
              <a:t>Time Consuming:</a:t>
            </a:r>
            <a:r>
              <a:rPr lang="en" sz="1800"/>
              <a:t> May have to read through thousands of abstracts </a:t>
            </a:r>
            <a:endParaRPr sz="1800"/>
          </a:p>
          <a:p>
            <a:pPr marL="457200" lvl="0" indent="-342900" algn="l" rtl="0">
              <a:spcBef>
                <a:spcPts val="1000"/>
              </a:spcBef>
              <a:spcAft>
                <a:spcPts val="0"/>
              </a:spcAft>
              <a:buSzPts val="1800"/>
              <a:buChar char="•"/>
            </a:pPr>
            <a:r>
              <a:rPr lang="en" sz="1800" b="1"/>
              <a:t>Scan Limited: </a:t>
            </a:r>
            <a:r>
              <a:rPr lang="en" sz="1800"/>
              <a:t>Manually identify relevant papers from titles, authors or keywords</a:t>
            </a:r>
            <a:endParaRPr sz="1800"/>
          </a:p>
          <a:p>
            <a:pPr marL="457200" lvl="0" indent="-342900" algn="l" rtl="0">
              <a:spcBef>
                <a:spcPts val="1000"/>
              </a:spcBef>
              <a:spcAft>
                <a:spcPts val="0"/>
              </a:spcAft>
              <a:buSzPts val="1800"/>
              <a:buChar char="•"/>
            </a:pPr>
            <a:r>
              <a:rPr lang="en" sz="1800"/>
              <a:t>Existing tools like Google Scholar can </a:t>
            </a:r>
            <a:r>
              <a:rPr lang="en" sz="1800" b="1"/>
              <a:t>hide relevant areas from newer authors</a:t>
            </a:r>
            <a:r>
              <a:rPr lang="en" sz="1800"/>
              <a:t> while showing more cited works that are not relevant</a:t>
            </a:r>
            <a:endParaRPr sz="1800"/>
          </a:p>
          <a:p>
            <a:pPr marL="457200" lvl="0" indent="-342900" algn="l" rtl="0">
              <a:spcBef>
                <a:spcPts val="1000"/>
              </a:spcBef>
              <a:spcAft>
                <a:spcPts val="0"/>
              </a:spcAft>
              <a:buSzPts val="1800"/>
              <a:buChar char="•"/>
            </a:pPr>
            <a:r>
              <a:rPr lang="en" sz="1800"/>
              <a:t>ConnectedPapers.com try to overcome this but are still </a:t>
            </a:r>
            <a:r>
              <a:rPr lang="en" sz="1800" b="1"/>
              <a:t>limited to citation graphs</a:t>
            </a:r>
            <a:endParaRPr sz="1800" b="1"/>
          </a:p>
          <a:p>
            <a:pPr marL="457200" lvl="0" indent="-342900" algn="l" rtl="0">
              <a:spcBef>
                <a:spcPts val="1000"/>
              </a:spcBef>
              <a:spcAft>
                <a:spcPts val="0"/>
              </a:spcAft>
              <a:buSzPts val="1800"/>
              <a:buChar char="•"/>
            </a:pPr>
            <a:r>
              <a:rPr lang="en" sz="1800" b="1"/>
              <a:t>Keywords on same research can change overtime</a:t>
            </a:r>
            <a:r>
              <a:rPr lang="en" sz="1800"/>
              <a:t>, limiting search to specific time periods (i.e. transformers -&gt; pre-trained language models)</a:t>
            </a:r>
            <a:endParaRPr sz="1800"/>
          </a:p>
          <a:p>
            <a:pPr marL="457200" lvl="0" indent="-342900" algn="l" rtl="0">
              <a:spcBef>
                <a:spcPts val="1000"/>
              </a:spcBef>
              <a:spcAft>
                <a:spcPts val="0"/>
              </a:spcAft>
              <a:buSzPts val="1800"/>
              <a:buChar char="•"/>
            </a:pPr>
            <a:r>
              <a:rPr lang="en" sz="1800" b="1"/>
              <a:t>No quantitative measure</a:t>
            </a:r>
            <a:r>
              <a:rPr lang="en" sz="1800"/>
              <a:t> literature review accuracy</a:t>
            </a:r>
            <a:endParaRPr sz="1800"/>
          </a:p>
          <a:p>
            <a:pPr marL="0" lvl="0" indent="0" algn="l" rtl="0">
              <a:spcBef>
                <a:spcPts val="10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1"/>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Limitations of Literature Diversity</a:t>
            </a:r>
            <a:endParaRPr/>
          </a:p>
        </p:txBody>
      </p:sp>
      <p:sp>
        <p:nvSpPr>
          <p:cNvPr id="64" name="Google Shape;64;p11"/>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Current tools such as Google Scholar and </a:t>
            </a:r>
            <a:r>
              <a:rPr lang="en" u="sng">
                <a:solidFill>
                  <a:schemeClr val="hlink"/>
                </a:solidFill>
                <a:hlinkClick r:id="rId3"/>
              </a:rPr>
              <a:t>ConnectedPapers.com</a:t>
            </a:r>
            <a:r>
              <a:rPr lang="en"/>
              <a:t> can limit diversity by excluding:</a:t>
            </a:r>
            <a:endParaRPr/>
          </a:p>
          <a:p>
            <a:pPr marL="0" lvl="0" indent="0" algn="l" rtl="0">
              <a:spcBef>
                <a:spcPts val="480"/>
              </a:spcBef>
              <a:spcAft>
                <a:spcPts val="0"/>
              </a:spcAft>
              <a:buNone/>
            </a:pPr>
            <a:endParaRPr/>
          </a:p>
          <a:p>
            <a:pPr marL="457200" lvl="0" indent="-381000" algn="l" rtl="0">
              <a:spcBef>
                <a:spcPts val="480"/>
              </a:spcBef>
              <a:spcAft>
                <a:spcPts val="0"/>
              </a:spcAft>
              <a:buSzPts val="2400"/>
              <a:buChar char="•"/>
            </a:pPr>
            <a:r>
              <a:rPr lang="en"/>
              <a:t>Emerging topics (e.g., “Reasoning”, “Chain of Thought”)</a:t>
            </a:r>
            <a:endParaRPr/>
          </a:p>
          <a:p>
            <a:pPr marL="457200" lvl="0" indent="-381000" algn="l" rtl="0">
              <a:spcBef>
                <a:spcPts val="1000"/>
              </a:spcBef>
              <a:spcAft>
                <a:spcPts val="0"/>
              </a:spcAft>
              <a:buSzPts val="2400"/>
              <a:buChar char="•"/>
            </a:pPr>
            <a:r>
              <a:rPr lang="en"/>
              <a:t>Newer or less popular authors with relevant and solid research</a:t>
            </a:r>
            <a:endParaRPr/>
          </a:p>
          <a:p>
            <a:pPr marL="457200" lvl="0" indent="-381000" algn="l" rtl="0">
              <a:spcBef>
                <a:spcPts val="1000"/>
              </a:spcBef>
              <a:spcAft>
                <a:spcPts val="0"/>
              </a:spcAft>
              <a:buSzPts val="2400"/>
              <a:buChar char="•"/>
            </a:pPr>
            <a:r>
              <a:rPr lang="en"/>
              <a:t>Less mainstream topics that have similar solutions</a:t>
            </a: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1000"/>
              </a:spcBef>
              <a:spcAft>
                <a:spcPts val="0"/>
              </a:spcAft>
              <a:buNone/>
            </a:pPr>
            <a:endParaRPr/>
          </a:p>
          <a:p>
            <a:pPr marL="0" lvl="0" indent="0" algn="l" rtl="0">
              <a:spcBef>
                <a:spcPts val="48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4"/>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Topic Coverage Impact</a:t>
            </a:r>
            <a:endParaRPr/>
          </a:p>
        </p:txBody>
      </p:sp>
      <p:sp>
        <p:nvSpPr>
          <p:cNvPr id="83" name="Google Shape;83;p14"/>
          <p:cNvSpPr txBox="1">
            <a:spLocks noGrp="1"/>
          </p:cNvSpPr>
          <p:nvPr>
            <p:ph type="body" idx="1"/>
          </p:nvPr>
        </p:nvSpPr>
        <p:spPr>
          <a:xfrm>
            <a:off x="457200" y="1793500"/>
            <a:ext cx="8229600" cy="39516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Local topic coverage of solutions to same/ similar RQs</a:t>
            </a:r>
            <a:endParaRPr/>
          </a:p>
          <a:p>
            <a:pPr marL="457200" lvl="0" indent="-381000" algn="l" rtl="0">
              <a:spcBef>
                <a:spcPts val="1000"/>
              </a:spcBef>
              <a:spcAft>
                <a:spcPts val="0"/>
              </a:spcAft>
              <a:buSzPts val="2400"/>
              <a:buChar char="•"/>
            </a:pPr>
            <a:r>
              <a:rPr lang="en"/>
              <a:t>Global topic coverage to understand areas of relevance and impact</a:t>
            </a:r>
            <a:endParaRPr/>
          </a:p>
          <a:p>
            <a:pPr marL="0" lvl="0" indent="0" algn="l" rtl="0">
              <a:spcBef>
                <a:spcPts val="1000"/>
              </a:spcBef>
              <a:spcAft>
                <a:spcPts val="0"/>
              </a:spcAft>
              <a:buNone/>
            </a:pPr>
            <a:endParaRPr/>
          </a:p>
          <a:p>
            <a:pPr marL="0" lvl="0" indent="0" algn="l" rtl="0">
              <a:spcBef>
                <a:spcPts val="480"/>
              </a:spcBef>
              <a:spcAft>
                <a:spcPts val="0"/>
              </a:spcAft>
              <a:buNone/>
            </a:pPr>
            <a:endParaRPr>
              <a:solidFill>
                <a:srgbClr val="0000FF"/>
              </a:solidFill>
            </a:endParaRPr>
          </a:p>
        </p:txBody>
      </p:sp>
      <p:pic>
        <p:nvPicPr>
          <p:cNvPr id="84" name="Google Shape;84;p14"/>
          <p:cNvPicPr preferRelativeResize="0"/>
          <p:nvPr/>
        </p:nvPicPr>
        <p:blipFill>
          <a:blip r:embed="rId3">
            <a:alphaModFix/>
          </a:blip>
          <a:stretch>
            <a:fillRect/>
          </a:stretch>
        </p:blipFill>
        <p:spPr>
          <a:xfrm>
            <a:off x="1630450" y="4075863"/>
            <a:ext cx="2362200" cy="1933575"/>
          </a:xfrm>
          <a:prstGeom prst="rect">
            <a:avLst/>
          </a:prstGeom>
          <a:noFill/>
          <a:ln>
            <a:noFill/>
          </a:ln>
        </p:spPr>
      </p:pic>
      <p:pic>
        <p:nvPicPr>
          <p:cNvPr id="85" name="Google Shape;85;p14"/>
          <p:cNvPicPr preferRelativeResize="0"/>
          <p:nvPr/>
        </p:nvPicPr>
        <p:blipFill>
          <a:blip r:embed="rId4">
            <a:alphaModFix/>
          </a:blip>
          <a:stretch>
            <a:fillRect/>
          </a:stretch>
        </p:blipFill>
        <p:spPr>
          <a:xfrm>
            <a:off x="4847975" y="3694875"/>
            <a:ext cx="2658850" cy="265885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5"/>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Topic Coverage Impact </a:t>
            </a:r>
            <a:endParaRPr/>
          </a:p>
        </p:txBody>
      </p:sp>
      <p:sp>
        <p:nvSpPr>
          <p:cNvPr id="91" name="Google Shape;91;p15"/>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Resolve some key terms nuance that combine:</a:t>
            </a:r>
            <a:endParaRPr/>
          </a:p>
          <a:p>
            <a:pPr marL="457200" lvl="0" indent="-381000" algn="l" rtl="0">
              <a:spcBef>
                <a:spcPts val="480"/>
              </a:spcBef>
              <a:spcAft>
                <a:spcPts val="0"/>
              </a:spcAft>
              <a:buSzPts val="2400"/>
              <a:buChar char="•"/>
            </a:pPr>
            <a:r>
              <a:rPr lang="en"/>
              <a:t>Similar research across key term groups from different time periods</a:t>
            </a:r>
            <a:endParaRPr/>
          </a:p>
          <a:p>
            <a:pPr marL="457200" lvl="0" indent="-381000" algn="l" rtl="0">
              <a:spcBef>
                <a:spcPts val="1000"/>
              </a:spcBef>
              <a:spcAft>
                <a:spcPts val="0"/>
              </a:spcAft>
              <a:buSzPts val="2400"/>
              <a:buChar char="•"/>
            </a:pPr>
            <a:r>
              <a:rPr lang="en"/>
              <a:t>Unique key terms with a common identifying topic</a:t>
            </a:r>
            <a:endParaRPr/>
          </a:p>
          <a:p>
            <a:pPr marL="457200" lvl="0" indent="-381000" algn="l" rtl="0">
              <a:spcBef>
                <a:spcPts val="1000"/>
              </a:spcBef>
              <a:spcAft>
                <a:spcPts val="0"/>
              </a:spcAft>
              <a:buSzPts val="2400"/>
              <a:buChar char="•"/>
            </a:pPr>
            <a:r>
              <a:rPr lang="en"/>
              <a:t>Provides context for and filters mass group of literature for specific topic criteria</a:t>
            </a:r>
            <a:endParaRPr/>
          </a:p>
          <a:p>
            <a:pPr marL="0" lvl="0" indent="0" algn="l" rtl="0">
              <a:spcBef>
                <a:spcPts val="1000"/>
              </a:spcBef>
              <a:spcAft>
                <a:spcPts val="0"/>
              </a:spcAft>
              <a:buNone/>
            </a:pPr>
            <a:endParaRPr/>
          </a:p>
          <a:p>
            <a:pPr marL="0" lvl="0" indent="0" algn="l" rtl="0">
              <a:spcBef>
                <a:spcPts val="480"/>
              </a:spcBef>
              <a:spcAft>
                <a:spcPts val="0"/>
              </a:spcAft>
              <a:buNone/>
            </a:pPr>
            <a:r>
              <a:rPr lang="en"/>
              <a:t>Semantic retrieval tools for literature review are emerging, but they often do not provide topic modelling.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6"/>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Research Goal</a:t>
            </a:r>
            <a:endParaRPr/>
          </a:p>
        </p:txBody>
      </p:sp>
      <p:sp>
        <p:nvSpPr>
          <p:cNvPr id="97" name="Google Shape;97;p16"/>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To the best of our knowledge, this work is the first to connect both automated literature scan and peer review </a:t>
            </a:r>
            <a:endParaRPr/>
          </a:p>
          <a:p>
            <a:pPr marL="457200" lvl="0" indent="-381000" algn="l" rtl="0">
              <a:spcBef>
                <a:spcPts val="1000"/>
              </a:spcBef>
              <a:spcAft>
                <a:spcPts val="0"/>
              </a:spcAft>
              <a:buSzPts val="2400"/>
              <a:buChar char="•"/>
            </a:pPr>
            <a:r>
              <a:rPr lang="en"/>
              <a:t>The goal is to offer concise, qualitative data to assist in the subjective decision-making of publication readiness</a:t>
            </a:r>
            <a:endParaRPr/>
          </a:p>
          <a:p>
            <a:pPr marL="914400" lvl="1" indent="-381000" algn="l" rtl="0">
              <a:spcBef>
                <a:spcPts val="1000"/>
              </a:spcBef>
              <a:spcAft>
                <a:spcPts val="0"/>
              </a:spcAft>
              <a:buSzPts val="2400"/>
              <a:buChar char="–"/>
            </a:pPr>
            <a:r>
              <a:rPr lang="en"/>
              <a:t>Topic novelty and completeness</a:t>
            </a:r>
            <a:endParaRPr/>
          </a:p>
          <a:p>
            <a:pPr marL="914400" lvl="1" indent="-381000" algn="l" rtl="0">
              <a:spcBef>
                <a:spcPts val="1000"/>
              </a:spcBef>
              <a:spcAft>
                <a:spcPts val="0"/>
              </a:spcAft>
              <a:buSzPts val="2400"/>
              <a:buChar char="–"/>
            </a:pPr>
            <a:r>
              <a:rPr lang="en"/>
              <a:t>LLM reasoned suggestions of topic relationships to user abstract</a:t>
            </a:r>
            <a:endParaRPr/>
          </a:p>
          <a:p>
            <a:pPr marL="914400" lvl="1" indent="-381000" algn="l" rtl="0">
              <a:spcBef>
                <a:spcPts val="1000"/>
              </a:spcBef>
              <a:spcAft>
                <a:spcPts val="1000"/>
              </a:spcAft>
              <a:buSzPts val="2400"/>
              <a:buChar char="–"/>
            </a:pPr>
            <a:r>
              <a:rPr lang="en"/>
              <a:t>Optimize human and AI collaboration in decision making</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0"/>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Background Table of Contents</a:t>
            </a:r>
            <a:endParaRPr/>
          </a:p>
        </p:txBody>
      </p:sp>
      <p:sp>
        <p:nvSpPr>
          <p:cNvPr id="121" name="Google Shape;121;p20"/>
          <p:cNvSpPr txBox="1">
            <a:spLocks noGrp="1"/>
          </p:cNvSpPr>
          <p:nvPr>
            <p:ph type="body" idx="1"/>
          </p:nvPr>
        </p:nvSpPr>
        <p:spPr>
          <a:xfrm>
            <a:off x="457200" y="1816025"/>
            <a:ext cx="8229600" cy="43101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Automated Literature and Peer Reviews</a:t>
            </a:r>
            <a:endParaRPr/>
          </a:p>
          <a:p>
            <a:pPr marL="457200" lvl="0" indent="-381000" algn="l" rtl="0">
              <a:spcBef>
                <a:spcPts val="1000"/>
              </a:spcBef>
              <a:spcAft>
                <a:spcPts val="0"/>
              </a:spcAft>
              <a:buSzPts val="2400"/>
              <a:buChar char="●"/>
            </a:pPr>
            <a:r>
              <a:rPr lang="en"/>
              <a:t>Domain Text Challenges</a:t>
            </a:r>
            <a:endParaRPr/>
          </a:p>
          <a:p>
            <a:pPr marL="457200" lvl="0" indent="-381000" algn="l" rtl="0">
              <a:spcBef>
                <a:spcPts val="1000"/>
              </a:spcBef>
              <a:spcAft>
                <a:spcPts val="0"/>
              </a:spcAft>
              <a:buSzPts val="2400"/>
              <a:buChar char="●"/>
            </a:pPr>
            <a:r>
              <a:rPr lang="en"/>
              <a:t>Dimension Reduction</a:t>
            </a:r>
            <a:endParaRPr/>
          </a:p>
          <a:p>
            <a:pPr marL="457200" lvl="0" indent="-381000" algn="l" rtl="0">
              <a:spcBef>
                <a:spcPts val="1000"/>
              </a:spcBef>
              <a:spcAft>
                <a:spcPts val="0"/>
              </a:spcAft>
              <a:buSzPts val="2400"/>
              <a:buChar char="●"/>
            </a:pPr>
            <a:r>
              <a:rPr lang="en"/>
              <a:t>Clustering</a:t>
            </a:r>
            <a:endParaRPr/>
          </a:p>
          <a:p>
            <a:pPr marL="457200" lvl="0" indent="-381000" algn="l" rtl="0">
              <a:spcBef>
                <a:spcPts val="1000"/>
              </a:spcBef>
              <a:spcAft>
                <a:spcPts val="0"/>
              </a:spcAft>
              <a:buSzPts val="2400"/>
              <a:buChar char="●"/>
            </a:pPr>
            <a:r>
              <a:rPr lang="en"/>
              <a:t>Jaccard Similarity and Jaccard Undersampling</a:t>
            </a:r>
            <a:endParaRPr/>
          </a:p>
          <a:p>
            <a:pPr marL="457200" lvl="0" indent="-381000" algn="l" rtl="0">
              <a:spcBef>
                <a:spcPts val="1000"/>
              </a:spcBef>
              <a:spcAft>
                <a:spcPts val="0"/>
              </a:spcAft>
              <a:buSzPts val="2400"/>
              <a:buChar char="●"/>
            </a:pPr>
            <a:r>
              <a:rPr lang="en"/>
              <a:t>Topic Modelling</a:t>
            </a:r>
            <a:endParaRPr/>
          </a:p>
          <a:p>
            <a:pPr marL="457200" lvl="0" indent="-381000" algn="l" rtl="0">
              <a:spcBef>
                <a:spcPts val="1000"/>
              </a:spcBef>
              <a:spcAft>
                <a:spcPts val="0"/>
              </a:spcAft>
              <a:buSzPts val="2400"/>
              <a:buChar char="●"/>
            </a:pPr>
            <a:r>
              <a:rPr lang="en"/>
              <a:t>LLM Reasoning Models</a:t>
            </a:r>
            <a:endParaRPr/>
          </a:p>
          <a:p>
            <a:pPr marL="0" lvl="0" indent="0" algn="l" rtl="0">
              <a:spcBef>
                <a:spcPts val="10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Automated Literature Reviews</a:t>
            </a:r>
            <a:endParaRPr/>
          </a:p>
        </p:txBody>
      </p:sp>
      <p:sp>
        <p:nvSpPr>
          <p:cNvPr id="127" name="Google Shape;127;p21"/>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LLMs have been studied for literature scan automations such as below:</a:t>
            </a:r>
            <a:endParaRPr/>
          </a:p>
          <a:p>
            <a:pPr marL="457200" lvl="0" indent="-381000" algn="l" rtl="0">
              <a:spcBef>
                <a:spcPts val="480"/>
              </a:spcBef>
              <a:spcAft>
                <a:spcPts val="0"/>
              </a:spcAft>
              <a:buSzPts val="2400"/>
              <a:buChar char="•"/>
            </a:pPr>
            <a:r>
              <a:rPr lang="en"/>
              <a:t>Organizing literature into hierarchies</a:t>
            </a:r>
            <a:endParaRPr/>
          </a:p>
          <a:p>
            <a:pPr marL="457200" lvl="0" indent="-381000" algn="l" rtl="0">
              <a:spcBef>
                <a:spcPts val="1000"/>
              </a:spcBef>
              <a:spcAft>
                <a:spcPts val="0"/>
              </a:spcAft>
              <a:buSzPts val="2400"/>
              <a:buChar char="•"/>
            </a:pPr>
            <a:r>
              <a:rPr lang="en"/>
              <a:t>Scanning bulk literature for inclusion/ exclusion</a:t>
            </a:r>
            <a:endParaRPr/>
          </a:p>
          <a:p>
            <a:pPr marL="914400" lvl="1" indent="-381000" algn="l" rtl="0">
              <a:spcBef>
                <a:spcPts val="1000"/>
              </a:spcBef>
              <a:spcAft>
                <a:spcPts val="0"/>
              </a:spcAft>
              <a:buSzPts val="2400"/>
              <a:buChar char="–"/>
            </a:pPr>
            <a:r>
              <a:rPr lang="en"/>
              <a:t>Specified topics/ key terms/ phrases</a:t>
            </a:r>
            <a:endParaRPr/>
          </a:p>
          <a:p>
            <a:pPr marL="914400" lvl="1" indent="-381000" algn="l" rtl="0">
              <a:spcBef>
                <a:spcPts val="1000"/>
              </a:spcBef>
              <a:spcAft>
                <a:spcPts val="0"/>
              </a:spcAft>
              <a:buSzPts val="2400"/>
              <a:buChar char="–"/>
            </a:pPr>
            <a:r>
              <a:rPr lang="en"/>
              <a:t>Scoping against summary of specified criteria</a:t>
            </a:r>
            <a:endParaRPr/>
          </a:p>
          <a:p>
            <a:pPr marL="914400" lvl="1" indent="-381000" algn="l" rtl="0">
              <a:spcBef>
                <a:spcPts val="1000"/>
              </a:spcBef>
              <a:spcAft>
                <a:spcPts val="0"/>
              </a:spcAft>
              <a:buSzPts val="2400"/>
              <a:buChar char="–"/>
            </a:pPr>
            <a:r>
              <a:rPr lang="en"/>
              <a:t>LLM assisted topic/ key term mining of abstract ideas (e.g., “pain”)</a:t>
            </a:r>
            <a:endParaRPr/>
          </a:p>
          <a:p>
            <a:pPr marL="457200" lvl="0" indent="-381000" algn="l" rtl="0">
              <a:spcBef>
                <a:spcPts val="1000"/>
              </a:spcBef>
              <a:spcAft>
                <a:spcPts val="0"/>
              </a:spcAft>
              <a:buSzPts val="2400"/>
              <a:buChar char="•"/>
            </a:pPr>
            <a:r>
              <a:rPr lang="en"/>
              <a:t>Full or partial authorship of literature surveys</a:t>
            </a:r>
            <a:endParaRPr/>
          </a:p>
          <a:p>
            <a:pPr marL="0" lvl="0" indent="0" algn="l" rtl="0">
              <a:spcBef>
                <a:spcPts val="1000"/>
              </a:spcBef>
              <a:spcAft>
                <a:spcPts val="0"/>
              </a:spcAft>
              <a:buNone/>
            </a:pPr>
            <a:endParaRPr/>
          </a:p>
          <a:p>
            <a:pPr marL="0" lvl="0" indent="0" algn="l" rtl="0">
              <a:spcBef>
                <a:spcPts val="48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2"/>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a:t>Automated Peer Reviews</a:t>
            </a:r>
            <a:endParaRPr/>
          </a:p>
          <a:p>
            <a:pPr marL="0" lvl="0" indent="0" algn="ctr" rtl="0">
              <a:spcBef>
                <a:spcPts val="0"/>
              </a:spcBef>
              <a:spcAft>
                <a:spcPts val="0"/>
              </a:spcAft>
              <a:buNone/>
            </a:pPr>
            <a:endParaRPr/>
          </a:p>
        </p:txBody>
      </p:sp>
      <p:sp>
        <p:nvSpPr>
          <p:cNvPr id="133" name="Google Shape;133;p22"/>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LLMs have been studied for peer review automations such as below:</a:t>
            </a:r>
            <a:endParaRPr/>
          </a:p>
          <a:p>
            <a:pPr marL="457200" lvl="0" indent="-381000" algn="l" rtl="0">
              <a:spcBef>
                <a:spcPts val="480"/>
              </a:spcBef>
              <a:spcAft>
                <a:spcPts val="0"/>
              </a:spcAft>
              <a:buSzPts val="2400"/>
              <a:buChar char="•"/>
            </a:pPr>
            <a:r>
              <a:rPr lang="en"/>
              <a:t>Polite communication and feedback</a:t>
            </a:r>
            <a:endParaRPr/>
          </a:p>
          <a:p>
            <a:pPr marL="457200" lvl="0" indent="-381000" algn="l" rtl="0">
              <a:spcBef>
                <a:spcPts val="0"/>
              </a:spcBef>
              <a:spcAft>
                <a:spcPts val="0"/>
              </a:spcAft>
              <a:buSzPts val="2400"/>
              <a:buChar char="•"/>
            </a:pPr>
            <a:r>
              <a:rPr lang="en"/>
              <a:t>Structured arguments to improve writing organization</a:t>
            </a:r>
            <a:endParaRPr/>
          </a:p>
          <a:p>
            <a:pPr marL="457200" lvl="0" indent="-381000" algn="l" rtl="0">
              <a:spcBef>
                <a:spcPts val="0"/>
              </a:spcBef>
              <a:spcAft>
                <a:spcPts val="0"/>
              </a:spcAft>
              <a:buSzPts val="2400"/>
              <a:buChar char="•"/>
            </a:pPr>
            <a:r>
              <a:rPr lang="en"/>
              <a:t>Assessing novelty</a:t>
            </a:r>
            <a:endParaRPr/>
          </a:p>
          <a:p>
            <a:pPr marL="0" lvl="0" indent="0" algn="l" rtl="0">
              <a:spcBef>
                <a:spcPts val="480"/>
              </a:spcBef>
              <a:spcAft>
                <a:spcPts val="0"/>
              </a:spcAft>
              <a:buNone/>
            </a:pPr>
            <a:endParaRPr/>
          </a:p>
          <a:p>
            <a:pPr marL="0" lvl="0" indent="0" algn="l" rtl="0">
              <a:spcBef>
                <a:spcPts val="480"/>
              </a:spcBef>
              <a:spcAft>
                <a:spcPts val="0"/>
              </a:spcAft>
              <a:buNone/>
            </a:pPr>
            <a:r>
              <a:rPr lang="en" sz="2000"/>
              <a:t>Limitation:</a:t>
            </a:r>
            <a:endParaRPr sz="2000"/>
          </a:p>
          <a:p>
            <a:pPr marL="0" lvl="0" indent="0" algn="l" rtl="0">
              <a:spcBef>
                <a:spcPts val="480"/>
              </a:spcBef>
              <a:spcAft>
                <a:spcPts val="0"/>
              </a:spcAft>
              <a:buNone/>
            </a:pPr>
            <a:r>
              <a:rPr lang="en">
                <a:solidFill>
                  <a:srgbClr val="0000FF"/>
                </a:solidFill>
              </a:rPr>
              <a:t>“ChatGPT might struggle with in-depth comprehension and contextual understanding of highly specialized or nuanced scientific topics.”  </a:t>
            </a:r>
            <a:r>
              <a:rPr lang="en" sz="1000">
                <a:solidFill>
                  <a:srgbClr val="0000FF"/>
                </a:solidFill>
              </a:rPr>
              <a:t>Biswas, Et al.</a:t>
            </a:r>
            <a:endParaRPr sz="1000">
              <a:solidFill>
                <a:srgbClr val="0000FF"/>
              </a:solidFill>
            </a:endParaRPr>
          </a:p>
          <a:p>
            <a:pPr marL="0" lvl="0" indent="0" algn="l" rtl="0">
              <a:spcBef>
                <a:spcPts val="480"/>
              </a:spcBef>
              <a:spcAft>
                <a:spcPts val="0"/>
              </a:spcAft>
              <a:buClr>
                <a:schemeClr val="dk1"/>
              </a:buClr>
              <a:buSzPts val="1100"/>
              <a:buFont typeface="Arial"/>
              <a:buNone/>
            </a:pPr>
            <a:endParaRPr/>
          </a:p>
        </p:txBody>
      </p:sp>
      <p:sp>
        <p:nvSpPr>
          <p:cNvPr id="134" name="Google Shape;134;p22"/>
          <p:cNvSpPr txBox="1"/>
          <p:nvPr/>
        </p:nvSpPr>
        <p:spPr>
          <a:xfrm>
            <a:off x="2203825" y="6331500"/>
            <a:ext cx="49206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t>Biswas, S. et al. “ChatGPT and the Future of Journal Reviews: A Feasibility Study”.</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3"/>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Sentence Embedding</a:t>
            </a:r>
            <a:endParaRPr/>
          </a:p>
        </p:txBody>
      </p:sp>
      <p:sp>
        <p:nvSpPr>
          <p:cNvPr id="140" name="Google Shape;140;p23"/>
          <p:cNvSpPr txBox="1">
            <a:spLocks noGrp="1"/>
          </p:cNvSpPr>
          <p:nvPr>
            <p:ph type="body" idx="1"/>
          </p:nvPr>
        </p:nvSpPr>
        <p:spPr>
          <a:xfrm>
            <a:off x="457200" y="1968425"/>
            <a:ext cx="8229600" cy="34116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LLM Sentence Embeddings are used for all clustering experiments</a:t>
            </a:r>
            <a:endParaRPr/>
          </a:p>
          <a:p>
            <a:pPr marL="457200" lvl="0" indent="-381000" algn="l" rtl="0">
              <a:spcBef>
                <a:spcPts val="1000"/>
              </a:spcBef>
              <a:spcAft>
                <a:spcPts val="0"/>
              </a:spcAft>
              <a:buSzPts val="2400"/>
              <a:buChar char="●"/>
            </a:pPr>
            <a:r>
              <a:rPr lang="en" b="1"/>
              <a:t>paraphrase-MiniLM-L6-v2</a:t>
            </a:r>
            <a:r>
              <a:rPr lang="en"/>
              <a:t> -  a sentence embedding transformer-based model</a:t>
            </a:r>
            <a:endParaRPr/>
          </a:p>
          <a:p>
            <a:pPr marL="457200" lvl="0" indent="-381000" algn="l" rtl="0">
              <a:spcBef>
                <a:spcPts val="1000"/>
              </a:spcBef>
              <a:spcAft>
                <a:spcPts val="0"/>
              </a:spcAft>
              <a:buSzPts val="2400"/>
              <a:buChar char="●"/>
            </a:pPr>
            <a:r>
              <a:rPr lang="en"/>
              <a:t>Outputs a semantic representation of a sentence as an embedding vector of 384 dimensions</a:t>
            </a:r>
            <a:endParaRPr/>
          </a:p>
          <a:p>
            <a:pPr marL="457200" lvl="0" indent="-381000" algn="l" rtl="0">
              <a:spcBef>
                <a:spcPts val="1000"/>
              </a:spcBef>
              <a:spcAft>
                <a:spcPts val="0"/>
              </a:spcAft>
              <a:buSzPts val="2400"/>
              <a:buChar char="●"/>
            </a:pPr>
            <a:r>
              <a:rPr lang="en"/>
              <a:t>Mean-pool: continuous similarity score is averaged across terms</a:t>
            </a:r>
            <a:endParaRPr/>
          </a:p>
          <a:p>
            <a:pPr marL="457200" lvl="0" indent="-381000" algn="l" rtl="0">
              <a:spcBef>
                <a:spcPts val="1000"/>
              </a:spcBef>
              <a:spcAft>
                <a:spcPts val="1000"/>
              </a:spcAft>
              <a:buSzPts val="2400"/>
              <a:buChar char="●"/>
            </a:pPr>
            <a:r>
              <a:rPr lang="en"/>
              <a:t>Limitations: Semantic context for individual terms may get diluted for longer sentences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4"/>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Domain Text Challenges</a:t>
            </a:r>
            <a:endParaRPr/>
          </a:p>
        </p:txBody>
      </p:sp>
      <p:sp>
        <p:nvSpPr>
          <p:cNvPr id="146" name="Google Shape;146;p24"/>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Domain specific text, especially in scientific publications, may be limiting in the following:</a:t>
            </a:r>
            <a:endParaRPr/>
          </a:p>
          <a:p>
            <a:pPr marL="457200" lvl="0" indent="-381000" algn="l" rtl="0">
              <a:spcBef>
                <a:spcPts val="480"/>
              </a:spcBef>
              <a:spcAft>
                <a:spcPts val="0"/>
              </a:spcAft>
              <a:buSzPts val="2400"/>
              <a:buChar char="•"/>
            </a:pPr>
            <a:r>
              <a:rPr lang="en"/>
              <a:t>Vocabulary is not part of LLM training data</a:t>
            </a:r>
            <a:endParaRPr/>
          </a:p>
          <a:p>
            <a:pPr marL="457200" lvl="0" indent="-381000" algn="l" rtl="0">
              <a:spcBef>
                <a:spcPts val="1000"/>
              </a:spcBef>
              <a:spcAft>
                <a:spcPts val="0"/>
              </a:spcAft>
              <a:buSzPts val="2400"/>
              <a:buChar char="•"/>
            </a:pPr>
            <a:r>
              <a:rPr lang="en"/>
              <a:t>May be missed for LLMs that rely on text frequency </a:t>
            </a:r>
            <a:endParaRPr/>
          </a:p>
          <a:p>
            <a:pPr marL="457200" lvl="0" indent="-381000" algn="l" rtl="0">
              <a:spcBef>
                <a:spcPts val="1000"/>
              </a:spcBef>
              <a:spcAft>
                <a:spcPts val="0"/>
              </a:spcAft>
              <a:buSzPts val="2400"/>
              <a:buChar char="•"/>
            </a:pPr>
            <a:r>
              <a:rPr lang="en"/>
              <a:t>Can result in LLM excluding domain vocabulary during summarization, concept interpretation, etc.</a:t>
            </a:r>
            <a:endParaRPr/>
          </a:p>
          <a:p>
            <a:pPr marL="457200" lvl="0" indent="-381000" algn="l" rtl="0">
              <a:spcBef>
                <a:spcPts val="1000"/>
              </a:spcBef>
              <a:spcAft>
                <a:spcPts val="0"/>
              </a:spcAft>
              <a:buSzPts val="2400"/>
              <a:buChar char="•"/>
            </a:pPr>
            <a:r>
              <a:rPr lang="en"/>
              <a:t>Data sparsity and outlier challenges</a:t>
            </a:r>
            <a:endParaRPr/>
          </a:p>
          <a:p>
            <a:pPr marL="0" lvl="0" indent="0" algn="l" rtl="0">
              <a:spcBef>
                <a:spcPts val="1000"/>
              </a:spcBef>
              <a:spcAft>
                <a:spcPts val="0"/>
              </a:spcAft>
              <a:buNone/>
            </a:pPr>
            <a:endParaRPr/>
          </a:p>
          <a:p>
            <a:pPr marL="0" lvl="0" indent="0" algn="l" rtl="0">
              <a:spcBef>
                <a:spcPts val="48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5"/>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Data Sparsity and Outlier Causes</a:t>
            </a:r>
            <a:endParaRPr/>
          </a:p>
        </p:txBody>
      </p:sp>
      <p:sp>
        <p:nvSpPr>
          <p:cNvPr id="152" name="Google Shape;152;p25"/>
          <p:cNvSpPr txBox="1">
            <a:spLocks noGrp="1"/>
          </p:cNvSpPr>
          <p:nvPr>
            <p:ph type="body" idx="1"/>
          </p:nvPr>
        </p:nvSpPr>
        <p:spPr>
          <a:xfrm>
            <a:off x="457200" y="1828800"/>
            <a:ext cx="8270400" cy="34548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Clustering with data sparsity results in outliers because there are little common dimensions amongst other documents</a:t>
            </a:r>
            <a:endParaRPr/>
          </a:p>
          <a:p>
            <a:pPr marL="0" lvl="0" indent="0" algn="l" rtl="0">
              <a:spcBef>
                <a:spcPts val="1000"/>
              </a:spcBef>
              <a:spcAft>
                <a:spcPts val="1000"/>
              </a:spcAft>
              <a:buNone/>
            </a:pPr>
            <a:endParaRPr/>
          </a:p>
        </p:txBody>
      </p:sp>
      <p:pic>
        <p:nvPicPr>
          <p:cNvPr id="153" name="Google Shape;153;p25"/>
          <p:cNvPicPr preferRelativeResize="0"/>
          <p:nvPr/>
        </p:nvPicPr>
        <p:blipFill rotWithShape="1">
          <a:blip r:embed="rId3">
            <a:alphaModFix/>
          </a:blip>
          <a:srcRect l="15074"/>
          <a:stretch/>
        </p:blipFill>
        <p:spPr>
          <a:xfrm>
            <a:off x="1641700" y="3244100"/>
            <a:ext cx="6006323" cy="3063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6"/>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Data Sparsity and Outlier Challenges</a:t>
            </a:r>
            <a:endParaRPr/>
          </a:p>
        </p:txBody>
      </p:sp>
      <p:sp>
        <p:nvSpPr>
          <p:cNvPr id="159" name="Google Shape;159;p26"/>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The following can result in data sparsity:</a:t>
            </a:r>
            <a:endParaRPr/>
          </a:p>
          <a:p>
            <a:pPr marL="457200" lvl="0" indent="-381000" algn="l" rtl="0">
              <a:spcBef>
                <a:spcPts val="480"/>
              </a:spcBef>
              <a:spcAft>
                <a:spcPts val="0"/>
              </a:spcAft>
              <a:buSzPts val="2400"/>
              <a:buChar char="•"/>
            </a:pPr>
            <a:r>
              <a:rPr lang="en"/>
              <a:t>Specialized terms are less likely to appear across multiple abstracts</a:t>
            </a:r>
            <a:endParaRPr/>
          </a:p>
          <a:p>
            <a:pPr marL="457200" lvl="0" indent="-381000" algn="l" rtl="0">
              <a:spcBef>
                <a:spcPts val="1000"/>
              </a:spcBef>
              <a:spcAft>
                <a:spcPts val="0"/>
              </a:spcAft>
              <a:buSzPts val="2400"/>
              <a:buChar char="•"/>
            </a:pPr>
            <a:r>
              <a:rPr lang="en"/>
              <a:t>Novelty criteria may encourage unique descriptions</a:t>
            </a:r>
            <a:endParaRPr/>
          </a:p>
          <a:p>
            <a:pPr marL="457200" lvl="0" indent="-381000" algn="l" rtl="0">
              <a:spcBef>
                <a:spcPts val="1000"/>
              </a:spcBef>
              <a:spcAft>
                <a:spcPts val="0"/>
              </a:spcAft>
              <a:buSzPts val="2400"/>
              <a:buChar char="•"/>
            </a:pPr>
            <a:r>
              <a:rPr lang="en"/>
              <a:t>Abstracts typically contain less, general supporting statements</a:t>
            </a:r>
            <a:endParaRPr/>
          </a:p>
          <a:p>
            <a:pPr marL="457200" lvl="0" indent="-381000" algn="l" rtl="0">
              <a:spcBef>
                <a:spcPts val="1000"/>
              </a:spcBef>
              <a:spcAft>
                <a:spcPts val="0"/>
              </a:spcAft>
              <a:buSzPts val="2400"/>
              <a:buChar char="•"/>
            </a:pPr>
            <a:r>
              <a:rPr lang="en"/>
              <a:t>Context overfitting in embedding models (e.g., bias of training data for specific domains)</a:t>
            </a:r>
            <a:endParaRPr/>
          </a:p>
          <a:p>
            <a:pPr marL="0" lvl="0" indent="0" algn="l" rtl="0">
              <a:spcBef>
                <a:spcPts val="1000"/>
              </a:spcBef>
              <a:spcAft>
                <a:spcPts val="0"/>
              </a:spcAft>
              <a:buNone/>
            </a:pPr>
            <a:endParaRPr/>
          </a:p>
          <a:p>
            <a:pPr marL="0" lvl="0" indent="0" algn="l" rtl="0">
              <a:spcBef>
                <a:spcPts val="480"/>
              </a:spcBef>
              <a:spcAft>
                <a:spcPts val="0"/>
              </a:spcAft>
              <a:buNone/>
            </a:pPr>
            <a:r>
              <a:rPr lang="en"/>
              <a:t>This limits clustering and results in </a:t>
            </a:r>
            <a:r>
              <a:rPr lang="en" b="1"/>
              <a:t>high outliers</a:t>
            </a:r>
            <a:r>
              <a:rPr lang="en"/>
              <a:t>!</a:t>
            </a:r>
            <a:endParaRPr/>
          </a:p>
          <a:p>
            <a:pPr marL="0" lvl="0" indent="0" algn="l" rtl="0">
              <a:spcBef>
                <a:spcPts val="480"/>
              </a:spcBef>
              <a:spcAft>
                <a:spcPts val="0"/>
              </a:spcAft>
              <a:buNone/>
            </a:pPr>
            <a:endParaRPr/>
          </a:p>
          <a:p>
            <a:pPr marL="0" lvl="0" indent="0" algn="l" rtl="0">
              <a:spcBef>
                <a:spcPts val="480"/>
              </a:spcBef>
              <a:spcAft>
                <a:spcPts val="0"/>
              </a:spcAft>
              <a:buNone/>
            </a:pP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7"/>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Dimension Reduction </a:t>
            </a:r>
            <a:endParaRPr/>
          </a:p>
        </p:txBody>
      </p:sp>
      <p:sp>
        <p:nvSpPr>
          <p:cNvPr id="165" name="Google Shape;165;p27"/>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Embedding vectors can contain 300+ dimensions </a:t>
            </a:r>
            <a:endParaRPr/>
          </a:p>
          <a:p>
            <a:pPr marL="457200" lvl="0" indent="-381000" algn="l" rtl="0">
              <a:spcBef>
                <a:spcPts val="1000"/>
              </a:spcBef>
              <a:spcAft>
                <a:spcPts val="0"/>
              </a:spcAft>
              <a:buSzPts val="2400"/>
              <a:buChar char="•"/>
            </a:pPr>
            <a:r>
              <a:rPr lang="en"/>
              <a:t>Lower dimension to enable clustering</a:t>
            </a:r>
            <a:endParaRPr/>
          </a:p>
          <a:p>
            <a:pPr marL="457200" lvl="0" indent="-381000" algn="l" rtl="0">
              <a:spcBef>
                <a:spcPts val="1000"/>
              </a:spcBef>
              <a:spcAft>
                <a:spcPts val="0"/>
              </a:spcAft>
              <a:buSzPts val="2400"/>
              <a:buChar char="•"/>
            </a:pPr>
            <a:r>
              <a:rPr lang="en"/>
              <a:t>Linear transformations - compact dimensions through linear separations</a:t>
            </a:r>
            <a:endParaRPr/>
          </a:p>
          <a:p>
            <a:pPr marL="457200" lvl="0" indent="-381000" algn="l" rtl="0">
              <a:spcBef>
                <a:spcPts val="1000"/>
              </a:spcBef>
              <a:spcAft>
                <a:spcPts val="0"/>
              </a:spcAft>
              <a:buSzPts val="2400"/>
              <a:buChar char="•"/>
            </a:pPr>
            <a:r>
              <a:rPr lang="en"/>
              <a:t>Non Linear transformation - typically through manifold learning (e.g., curves, folds, etc.) </a:t>
            </a:r>
            <a:endParaRPr/>
          </a:p>
          <a:p>
            <a:pPr marL="0" lvl="0" indent="0" algn="l" rtl="0">
              <a:spcBef>
                <a:spcPts val="100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8"/>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Principal Component Analysis (PCA)</a:t>
            </a:r>
            <a:endParaRPr/>
          </a:p>
        </p:txBody>
      </p:sp>
      <p:sp>
        <p:nvSpPr>
          <p:cNvPr id="171" name="Google Shape;171;p28"/>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Reduced orthogonal axes that retain required amount of variance in original data space</a:t>
            </a:r>
            <a:endParaRPr/>
          </a:p>
          <a:p>
            <a:pPr marL="457200" lvl="0" indent="-381000" algn="l" rtl="0">
              <a:spcBef>
                <a:spcPts val="0"/>
              </a:spcBef>
              <a:spcAft>
                <a:spcPts val="0"/>
              </a:spcAft>
              <a:buSzPts val="2400"/>
              <a:buChar char="•"/>
            </a:pPr>
            <a:r>
              <a:rPr lang="en"/>
              <a:t>Goal is to minimize dimensions while maintaining data pattern of original data space</a:t>
            </a:r>
            <a:endParaRPr/>
          </a:p>
          <a:p>
            <a:pPr marL="457200" lvl="0" indent="0" algn="l" rtl="0">
              <a:spcBef>
                <a:spcPts val="480"/>
              </a:spcBef>
              <a:spcAft>
                <a:spcPts val="0"/>
              </a:spcAft>
              <a:buNone/>
            </a:pPr>
            <a:endParaRPr/>
          </a:p>
          <a:p>
            <a:pPr marL="0" lvl="0" indent="0" algn="l" rtl="0">
              <a:spcBef>
                <a:spcPts val="480"/>
              </a:spcBef>
              <a:spcAft>
                <a:spcPts val="0"/>
              </a:spcAft>
              <a:buNone/>
            </a:pPr>
            <a:endParaRPr/>
          </a:p>
          <a:p>
            <a:pPr marL="0" lvl="0" indent="0" algn="l" rtl="0">
              <a:spcBef>
                <a:spcPts val="480"/>
              </a:spcBef>
              <a:spcAft>
                <a:spcPts val="0"/>
              </a:spcAft>
              <a:buNone/>
            </a:pPr>
            <a:endParaRPr/>
          </a:p>
        </p:txBody>
      </p:sp>
      <p:pic>
        <p:nvPicPr>
          <p:cNvPr id="172" name="Google Shape;172;p28"/>
          <p:cNvPicPr preferRelativeResize="0"/>
          <p:nvPr/>
        </p:nvPicPr>
        <p:blipFill>
          <a:blip r:embed="rId3">
            <a:alphaModFix/>
          </a:blip>
          <a:stretch>
            <a:fillRect/>
          </a:stretch>
        </p:blipFill>
        <p:spPr>
          <a:xfrm>
            <a:off x="986150" y="3765174"/>
            <a:ext cx="3063625" cy="2287450"/>
          </a:xfrm>
          <a:prstGeom prst="rect">
            <a:avLst/>
          </a:prstGeom>
          <a:noFill/>
          <a:ln>
            <a:noFill/>
          </a:ln>
        </p:spPr>
      </p:pic>
      <p:pic>
        <p:nvPicPr>
          <p:cNvPr id="173" name="Google Shape;173;p28"/>
          <p:cNvPicPr preferRelativeResize="0"/>
          <p:nvPr/>
        </p:nvPicPr>
        <p:blipFill>
          <a:blip r:embed="rId4">
            <a:alphaModFix/>
          </a:blip>
          <a:stretch>
            <a:fillRect/>
          </a:stretch>
        </p:blipFill>
        <p:spPr>
          <a:xfrm>
            <a:off x="5171125" y="3571475"/>
            <a:ext cx="3363276" cy="25224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9"/>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Uniform Manifold Approximation and Projection (UMAP)</a:t>
            </a:r>
            <a:endParaRPr/>
          </a:p>
        </p:txBody>
      </p:sp>
      <p:sp>
        <p:nvSpPr>
          <p:cNvPr id="179" name="Google Shape;179;p29"/>
          <p:cNvSpPr txBox="1">
            <a:spLocks noGrp="1"/>
          </p:cNvSpPr>
          <p:nvPr>
            <p:ph type="body" idx="1"/>
          </p:nvPr>
        </p:nvSpPr>
        <p:spPr>
          <a:xfrm>
            <a:off x="457200" y="1828800"/>
            <a:ext cx="8229600" cy="42975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Based on manifold learning, UMAP converts distances into probability similarities of neighborhood likeliness, that is, how likely another point is to be a neighbor.</a:t>
            </a:r>
            <a:endParaRPr/>
          </a:p>
          <a:p>
            <a:pPr marL="0" lvl="0" indent="0" algn="l" rtl="0">
              <a:spcBef>
                <a:spcPts val="480"/>
              </a:spcBef>
              <a:spcAft>
                <a:spcPts val="0"/>
              </a:spcAft>
              <a:buNone/>
            </a:pPr>
            <a:endParaRPr/>
          </a:p>
        </p:txBody>
      </p:sp>
      <p:pic>
        <p:nvPicPr>
          <p:cNvPr id="180" name="Google Shape;180;p29"/>
          <p:cNvPicPr preferRelativeResize="0"/>
          <p:nvPr/>
        </p:nvPicPr>
        <p:blipFill>
          <a:blip r:embed="rId3">
            <a:alphaModFix/>
          </a:blip>
          <a:stretch>
            <a:fillRect/>
          </a:stretch>
        </p:blipFill>
        <p:spPr>
          <a:xfrm>
            <a:off x="773200" y="3462625"/>
            <a:ext cx="3619875" cy="2027125"/>
          </a:xfrm>
          <a:prstGeom prst="rect">
            <a:avLst/>
          </a:prstGeom>
          <a:noFill/>
          <a:ln>
            <a:noFill/>
          </a:ln>
        </p:spPr>
      </p:pic>
      <p:pic>
        <p:nvPicPr>
          <p:cNvPr id="181" name="Google Shape;181;p29"/>
          <p:cNvPicPr preferRelativeResize="0"/>
          <p:nvPr/>
        </p:nvPicPr>
        <p:blipFill>
          <a:blip r:embed="rId4">
            <a:alphaModFix/>
          </a:blip>
          <a:stretch>
            <a:fillRect/>
          </a:stretch>
        </p:blipFill>
        <p:spPr>
          <a:xfrm>
            <a:off x="5010150" y="3268800"/>
            <a:ext cx="2857500" cy="2857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0"/>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Clustering</a:t>
            </a:r>
            <a:endParaRPr/>
          </a:p>
        </p:txBody>
      </p:sp>
      <p:sp>
        <p:nvSpPr>
          <p:cNvPr id="187" name="Google Shape;187;p30"/>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K-MEANS - Centroid based, will not separate outliers</a:t>
            </a:r>
            <a:endParaRPr/>
          </a:p>
          <a:p>
            <a:pPr marL="457200" lvl="0" indent="-381000" algn="l" rtl="0">
              <a:spcBef>
                <a:spcPts val="1000"/>
              </a:spcBef>
              <a:spcAft>
                <a:spcPts val="0"/>
              </a:spcAft>
              <a:buSzPts val="2400"/>
              <a:buChar char="•"/>
            </a:pPr>
            <a:r>
              <a:rPr lang="en"/>
              <a:t>DBSCAN - Sensitive to outliers, based on uniform euclidean distance, less able to conform to data variance</a:t>
            </a:r>
            <a:endParaRPr/>
          </a:p>
          <a:p>
            <a:pPr marL="457200" lvl="0" indent="-381000" algn="l" rtl="0">
              <a:spcBef>
                <a:spcPts val="1000"/>
              </a:spcBef>
              <a:spcAft>
                <a:spcPts val="0"/>
              </a:spcAft>
              <a:buSzPts val="2400"/>
              <a:buChar char="•"/>
            </a:pPr>
            <a:r>
              <a:rPr lang="en"/>
              <a:t>HDBSCAN - Extends DBSCAN by using relationship probabilities to capture data variance (e.g., varying popularity across different subtopics)</a:t>
            </a:r>
            <a:endParaRPr/>
          </a:p>
          <a:p>
            <a:pPr marL="0" lvl="0" indent="0" algn="l" rtl="0">
              <a:spcBef>
                <a:spcPts val="100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31"/>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Hierarchical DBSCAN Clustering</a:t>
            </a:r>
            <a:endParaRPr/>
          </a:p>
        </p:txBody>
      </p:sp>
      <p:sp>
        <p:nvSpPr>
          <p:cNvPr id="193" name="Google Shape;193;p31"/>
          <p:cNvSpPr txBox="1">
            <a:spLocks noGrp="1"/>
          </p:cNvSpPr>
          <p:nvPr>
            <p:ph type="body" idx="1"/>
          </p:nvPr>
        </p:nvSpPr>
        <p:spPr>
          <a:xfrm>
            <a:off x="457200" y="1828800"/>
            <a:ext cx="83943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Hierarchical Density-Based Spatial Clustering of Applications with Noise</a:t>
            </a:r>
            <a:endParaRPr/>
          </a:p>
          <a:p>
            <a:pPr marL="457200" lvl="0" indent="-381000" algn="l" rtl="0">
              <a:spcBef>
                <a:spcPts val="480"/>
              </a:spcBef>
              <a:spcAft>
                <a:spcPts val="0"/>
              </a:spcAft>
              <a:buSzPts val="2400"/>
              <a:buChar char="•"/>
            </a:pPr>
            <a:r>
              <a:rPr lang="en"/>
              <a:t>Extends DBSCAN by clustering with varying densities</a:t>
            </a:r>
            <a:endParaRPr/>
          </a:p>
          <a:p>
            <a:pPr marL="457200" lvl="0" indent="-381000" algn="l" rtl="0">
              <a:spcBef>
                <a:spcPts val="0"/>
              </a:spcBef>
              <a:spcAft>
                <a:spcPts val="0"/>
              </a:spcAft>
              <a:buSzPts val="2400"/>
              <a:buChar char="•"/>
            </a:pPr>
            <a:r>
              <a:rPr lang="en"/>
              <a:t>Builds minimum spanning tree with mutual reachability distance</a:t>
            </a:r>
            <a:endParaRPr/>
          </a:p>
          <a:p>
            <a:pPr marL="457200" lvl="0" indent="-381000" algn="l" rtl="0">
              <a:spcBef>
                <a:spcPts val="0"/>
              </a:spcBef>
              <a:spcAft>
                <a:spcPts val="0"/>
              </a:spcAft>
              <a:buSzPts val="2400"/>
              <a:buChar char="•"/>
            </a:pPr>
            <a:r>
              <a:rPr lang="en"/>
              <a:t>Prune large distance edges (i.e., remove excess mass)</a:t>
            </a:r>
            <a:endParaRPr/>
          </a:p>
          <a:p>
            <a:pPr marL="457200" lvl="0" indent="-381000" algn="l" rtl="0">
              <a:spcBef>
                <a:spcPts val="0"/>
              </a:spcBef>
              <a:spcAft>
                <a:spcPts val="0"/>
              </a:spcAft>
              <a:buSzPts val="2400"/>
              <a:buChar char="•"/>
            </a:pPr>
            <a:r>
              <a:rPr lang="en"/>
              <a:t>Extract clusters based on minPts</a:t>
            </a:r>
            <a:endParaRPr/>
          </a:p>
          <a:p>
            <a:pPr marL="457200" lvl="0" indent="-381000" algn="l" rtl="0">
              <a:spcBef>
                <a:spcPts val="0"/>
              </a:spcBef>
              <a:spcAft>
                <a:spcPts val="0"/>
              </a:spcAft>
              <a:buSzPts val="2400"/>
              <a:buChar char="•"/>
            </a:pPr>
            <a:r>
              <a:rPr lang="en"/>
              <a:t>May form global clusters </a:t>
            </a:r>
            <a:endParaRPr/>
          </a:p>
        </p:txBody>
      </p:sp>
      <p:pic>
        <p:nvPicPr>
          <p:cNvPr id="194" name="Google Shape;194;p31"/>
          <p:cNvPicPr preferRelativeResize="0"/>
          <p:nvPr/>
        </p:nvPicPr>
        <p:blipFill>
          <a:blip r:embed="rId3">
            <a:alphaModFix/>
          </a:blip>
          <a:stretch>
            <a:fillRect/>
          </a:stretch>
        </p:blipFill>
        <p:spPr>
          <a:xfrm>
            <a:off x="5731825" y="4385175"/>
            <a:ext cx="2723025" cy="15884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2"/>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Jaccard Similarity</a:t>
            </a:r>
            <a:endParaRPr/>
          </a:p>
        </p:txBody>
      </p:sp>
      <p:sp>
        <p:nvSpPr>
          <p:cNvPr id="200" name="Google Shape;200;p32"/>
          <p:cNvSpPr txBox="1"/>
          <p:nvPr/>
        </p:nvSpPr>
        <p:spPr>
          <a:xfrm>
            <a:off x="388900" y="2115200"/>
            <a:ext cx="5199000" cy="3873600"/>
          </a:xfrm>
          <a:prstGeom prst="rect">
            <a:avLst/>
          </a:prstGeom>
          <a:noFill/>
          <a:ln>
            <a:noFill/>
          </a:ln>
        </p:spPr>
        <p:txBody>
          <a:bodyPr spcFirstLastPara="1" wrap="square" lIns="91425" tIns="91425" rIns="91425" bIns="91425" anchor="t" anchorCtr="0">
            <a:spAutoFit/>
          </a:bodyPr>
          <a:lstStyle/>
          <a:p>
            <a:pPr marL="457200" lvl="0" indent="-342900" algn="l" rtl="0">
              <a:spcBef>
                <a:spcPts val="0"/>
              </a:spcBef>
              <a:spcAft>
                <a:spcPts val="0"/>
              </a:spcAft>
              <a:buSzPts val="1800"/>
              <a:buChar char="●"/>
            </a:pPr>
            <a:r>
              <a:rPr lang="en" sz="1800"/>
              <a:t>Developed by Paul Jaccard in 1901</a:t>
            </a:r>
            <a:endParaRPr sz="1800"/>
          </a:p>
          <a:p>
            <a:pPr marL="457200" lvl="0" indent="-342900" algn="l" rtl="0">
              <a:spcBef>
                <a:spcPts val="0"/>
              </a:spcBef>
              <a:spcAft>
                <a:spcPts val="0"/>
              </a:spcAft>
              <a:buSzPts val="1800"/>
              <a:buChar char="●"/>
            </a:pPr>
            <a:r>
              <a:rPr lang="en" sz="1800"/>
              <a:t>Measures the similarity of items between two sets</a:t>
            </a:r>
            <a:endParaRPr sz="1800"/>
          </a:p>
          <a:p>
            <a:pPr marL="0" lvl="0" indent="0" algn="l" rtl="0">
              <a:spcBef>
                <a:spcPts val="1000"/>
              </a:spcBef>
              <a:spcAft>
                <a:spcPts val="0"/>
              </a:spcAft>
              <a:buNone/>
            </a:pPr>
            <a:r>
              <a:rPr lang="en" sz="1800"/>
              <a:t>J(A,B) =|A ∩ B| / |A ∪ B|</a:t>
            </a:r>
            <a:endParaRPr sz="1800"/>
          </a:p>
          <a:p>
            <a:pPr marL="0" lvl="0" indent="0" algn="l" rtl="0">
              <a:spcBef>
                <a:spcPts val="0"/>
              </a:spcBef>
              <a:spcAft>
                <a:spcPts val="0"/>
              </a:spcAft>
              <a:buNone/>
            </a:pPr>
            <a:endParaRPr/>
          </a:p>
          <a:p>
            <a:pPr marL="457200" lvl="0" indent="-330200" algn="l" rtl="0">
              <a:spcBef>
                <a:spcPts val="0"/>
              </a:spcBef>
              <a:spcAft>
                <a:spcPts val="0"/>
              </a:spcAft>
              <a:buClr>
                <a:srgbClr val="000000"/>
              </a:buClr>
              <a:buSzPts val="1600"/>
              <a:buChar char="●"/>
            </a:pPr>
            <a:r>
              <a:rPr lang="en" sz="1600">
                <a:solidFill>
                  <a:srgbClr val="000000"/>
                </a:solidFill>
              </a:rPr>
              <a:t>Set intersection of A and B / Set Union of A and B</a:t>
            </a:r>
            <a:endParaRPr sz="1600">
              <a:solidFill>
                <a:srgbClr val="000000"/>
              </a:solidFill>
            </a:endParaRPr>
          </a:p>
          <a:p>
            <a:pPr marL="457200" lvl="0" indent="-330200" algn="l" rtl="0">
              <a:spcBef>
                <a:spcPts val="1000"/>
              </a:spcBef>
              <a:spcAft>
                <a:spcPts val="0"/>
              </a:spcAft>
              <a:buClr>
                <a:srgbClr val="000000"/>
              </a:buClr>
              <a:buSzPts val="1600"/>
              <a:buChar char="●"/>
            </a:pPr>
            <a:r>
              <a:rPr lang="en" sz="1600">
                <a:solidFill>
                  <a:srgbClr val="000000"/>
                </a:solidFill>
              </a:rPr>
              <a:t>Range - always be between 0 and 1</a:t>
            </a:r>
            <a:endParaRPr sz="1600">
              <a:solidFill>
                <a:srgbClr val="000000"/>
              </a:solidFill>
            </a:endParaRPr>
          </a:p>
          <a:p>
            <a:pPr marL="457200" lvl="0" indent="-330200" algn="l" rtl="0">
              <a:spcBef>
                <a:spcPts val="1000"/>
              </a:spcBef>
              <a:spcAft>
                <a:spcPts val="0"/>
              </a:spcAft>
              <a:buClr>
                <a:srgbClr val="000000"/>
              </a:buClr>
              <a:buSzPts val="1600"/>
              <a:buChar char="●"/>
            </a:pPr>
            <a:r>
              <a:rPr lang="en" sz="1600">
                <a:solidFill>
                  <a:srgbClr val="000000"/>
                </a:solidFill>
              </a:rPr>
              <a:t>higher Jaccard values indicating higher similarities</a:t>
            </a:r>
            <a:endParaRPr sz="1600">
              <a:solidFill>
                <a:srgbClr val="000000"/>
              </a:solidFill>
            </a:endParaRPr>
          </a:p>
          <a:p>
            <a:pPr marL="457200" lvl="0" indent="-330200" algn="l" rtl="0">
              <a:spcBef>
                <a:spcPts val="1000"/>
              </a:spcBef>
              <a:spcAft>
                <a:spcPts val="0"/>
              </a:spcAft>
              <a:buClr>
                <a:srgbClr val="000000"/>
              </a:buClr>
              <a:buSzPts val="1600"/>
              <a:buChar char="●"/>
            </a:pPr>
            <a:r>
              <a:rPr lang="en" sz="1600">
                <a:solidFill>
                  <a:srgbClr val="000000"/>
                </a:solidFill>
              </a:rPr>
              <a:t>Binary consideration of whether the term is or is not in the document</a:t>
            </a:r>
            <a:endParaRPr sz="1600">
              <a:solidFill>
                <a:srgbClr val="000000"/>
              </a:solidFill>
            </a:endParaRPr>
          </a:p>
          <a:p>
            <a:pPr marL="457200" lvl="0" indent="-330200" algn="l" rtl="0">
              <a:spcBef>
                <a:spcPts val="1000"/>
              </a:spcBef>
              <a:spcAft>
                <a:spcPts val="1000"/>
              </a:spcAft>
              <a:buClr>
                <a:srgbClr val="000000"/>
              </a:buClr>
              <a:buSzPts val="1600"/>
              <a:buChar char="●"/>
            </a:pPr>
            <a:r>
              <a:rPr lang="en" sz="1600"/>
              <a:t>Commonly used to find duplicate documents or key-word overlap</a:t>
            </a:r>
            <a:endParaRPr sz="1600"/>
          </a:p>
        </p:txBody>
      </p:sp>
      <p:pic>
        <p:nvPicPr>
          <p:cNvPr id="201" name="Google Shape;201;p32"/>
          <p:cNvPicPr preferRelativeResize="0"/>
          <p:nvPr/>
        </p:nvPicPr>
        <p:blipFill>
          <a:blip r:embed="rId3">
            <a:alphaModFix/>
          </a:blip>
          <a:stretch>
            <a:fillRect/>
          </a:stretch>
        </p:blipFill>
        <p:spPr>
          <a:xfrm>
            <a:off x="5666500" y="2026775"/>
            <a:ext cx="2631299" cy="3510424"/>
          </a:xfrm>
          <a:prstGeom prst="rect">
            <a:avLst/>
          </a:prstGeom>
          <a:noFill/>
          <a:ln>
            <a:noFill/>
          </a:ln>
        </p:spPr>
      </p:pic>
      <p:sp>
        <p:nvSpPr>
          <p:cNvPr id="202" name="Google Shape;202;p32"/>
          <p:cNvSpPr txBox="1"/>
          <p:nvPr/>
        </p:nvSpPr>
        <p:spPr>
          <a:xfrm>
            <a:off x="5522275" y="6200100"/>
            <a:ext cx="3279600" cy="40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00FF"/>
                </a:solidFill>
              </a:rPr>
              <a:t>From 890 Written Preliminary</a:t>
            </a:r>
            <a:endParaRPr sz="1800">
              <a:solidFill>
                <a:srgbClr val="0000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3"/>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Jaccard Similarity Text Example</a:t>
            </a:r>
            <a:endParaRPr/>
          </a:p>
        </p:txBody>
      </p:sp>
      <p:sp>
        <p:nvSpPr>
          <p:cNvPr id="208" name="Google Shape;208;p33"/>
          <p:cNvSpPr txBox="1"/>
          <p:nvPr/>
        </p:nvSpPr>
        <p:spPr>
          <a:xfrm>
            <a:off x="521350" y="5581650"/>
            <a:ext cx="7213500" cy="307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t>Credit: https://studymachinelearning.com/jaccard-similarity-text-similarity-metric-in-nlp/</a:t>
            </a:r>
            <a:endParaRPr sz="800"/>
          </a:p>
        </p:txBody>
      </p:sp>
      <p:sp>
        <p:nvSpPr>
          <p:cNvPr id="209" name="Google Shape;209;p33"/>
          <p:cNvSpPr txBox="1"/>
          <p:nvPr/>
        </p:nvSpPr>
        <p:spPr>
          <a:xfrm>
            <a:off x="368400" y="1828800"/>
            <a:ext cx="8318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100">
                <a:solidFill>
                  <a:srgbClr val="000000"/>
                </a:solidFill>
              </a:rPr>
              <a:t>Measures overlap between two sets, equivalent to overlapping words/ total unique words</a:t>
            </a:r>
            <a:endParaRPr/>
          </a:p>
        </p:txBody>
      </p:sp>
      <p:pic>
        <p:nvPicPr>
          <p:cNvPr id="210" name="Google Shape;210;p33"/>
          <p:cNvPicPr preferRelativeResize="0"/>
          <p:nvPr/>
        </p:nvPicPr>
        <p:blipFill>
          <a:blip r:embed="rId3">
            <a:alphaModFix/>
          </a:blip>
          <a:stretch>
            <a:fillRect/>
          </a:stretch>
        </p:blipFill>
        <p:spPr>
          <a:xfrm>
            <a:off x="276325" y="2455425"/>
            <a:ext cx="7277100" cy="2190750"/>
          </a:xfrm>
          <a:prstGeom prst="rect">
            <a:avLst/>
          </a:prstGeom>
          <a:noFill/>
          <a:ln>
            <a:noFill/>
          </a:ln>
        </p:spPr>
      </p:pic>
      <p:pic>
        <p:nvPicPr>
          <p:cNvPr id="211" name="Google Shape;211;p33"/>
          <p:cNvPicPr preferRelativeResize="0"/>
          <p:nvPr/>
        </p:nvPicPr>
        <p:blipFill>
          <a:blip r:embed="rId4">
            <a:alphaModFix/>
          </a:blip>
          <a:stretch>
            <a:fillRect/>
          </a:stretch>
        </p:blipFill>
        <p:spPr>
          <a:xfrm>
            <a:off x="6470219" y="3456325"/>
            <a:ext cx="2007625" cy="1422725"/>
          </a:xfrm>
          <a:prstGeom prst="rect">
            <a:avLst/>
          </a:prstGeom>
          <a:noFill/>
          <a:ln>
            <a:noFill/>
          </a:ln>
        </p:spPr>
      </p:pic>
      <p:sp>
        <p:nvSpPr>
          <p:cNvPr id="212" name="Google Shape;212;p33"/>
          <p:cNvSpPr txBox="1"/>
          <p:nvPr/>
        </p:nvSpPr>
        <p:spPr>
          <a:xfrm>
            <a:off x="5522275" y="6200100"/>
            <a:ext cx="3279600" cy="40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rgbClr val="0000FF"/>
                </a:solidFill>
              </a:rPr>
              <a:t>From 890 Written Preliminary</a:t>
            </a:r>
            <a:endParaRPr sz="1800">
              <a:solidFill>
                <a:srgbClr val="0000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sp>
        <p:nvSpPr>
          <p:cNvPr id="245" name="Google Shape;245;p37"/>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Topic Modelling</a:t>
            </a:r>
            <a:endParaRPr/>
          </a:p>
        </p:txBody>
      </p:sp>
      <p:sp>
        <p:nvSpPr>
          <p:cNvPr id="246" name="Google Shape;246;p37"/>
          <p:cNvSpPr txBox="1">
            <a:spLocks noGrp="1"/>
          </p:cNvSpPr>
          <p:nvPr>
            <p:ph type="body" idx="1"/>
          </p:nvPr>
        </p:nvSpPr>
        <p:spPr>
          <a:xfrm>
            <a:off x="457200" y="1828800"/>
            <a:ext cx="8229600" cy="4297200"/>
          </a:xfrm>
          <a:prstGeom prst="rect">
            <a:avLst/>
          </a:prstGeom>
        </p:spPr>
        <p:txBody>
          <a:bodyPr spcFirstLastPara="1" wrap="square" lIns="91425" tIns="91425" rIns="91425" bIns="91425" anchor="t" anchorCtr="0">
            <a:noAutofit/>
          </a:bodyPr>
          <a:lstStyle/>
          <a:p>
            <a:pPr marL="0" lvl="0" indent="0" algn="l" rtl="0">
              <a:spcBef>
                <a:spcPts val="480"/>
              </a:spcBef>
              <a:spcAft>
                <a:spcPts val="0"/>
              </a:spcAft>
              <a:buNone/>
            </a:pPr>
            <a:r>
              <a:rPr lang="en"/>
              <a:t>Extracting common themes or topics</a:t>
            </a:r>
            <a:endParaRPr/>
          </a:p>
          <a:p>
            <a:pPr marL="0" lvl="0" indent="0" algn="l" rtl="0">
              <a:spcBef>
                <a:spcPts val="480"/>
              </a:spcBef>
              <a:spcAft>
                <a:spcPts val="0"/>
              </a:spcAft>
              <a:buNone/>
            </a:pPr>
            <a:endParaRPr/>
          </a:p>
          <a:p>
            <a:pPr marL="457200" lvl="0" indent="-381000" algn="l" rtl="0">
              <a:spcBef>
                <a:spcPts val="480"/>
              </a:spcBef>
              <a:spcAft>
                <a:spcPts val="0"/>
              </a:spcAft>
              <a:buSzPts val="2400"/>
              <a:buChar char="●"/>
            </a:pPr>
            <a:r>
              <a:rPr lang="en"/>
              <a:t>Probabilistic Topic Modelling: </a:t>
            </a:r>
            <a:endParaRPr/>
          </a:p>
          <a:p>
            <a:pPr marL="914400" lvl="1" indent="-381000" algn="l" rtl="0">
              <a:spcBef>
                <a:spcPts val="1000"/>
              </a:spcBef>
              <a:spcAft>
                <a:spcPts val="0"/>
              </a:spcAft>
              <a:buSzPts val="2400"/>
              <a:buChar char="○"/>
            </a:pPr>
            <a:r>
              <a:rPr lang="en"/>
              <a:t>Latent Dirichlet Allocation (LDA)</a:t>
            </a:r>
            <a:endParaRPr/>
          </a:p>
          <a:p>
            <a:pPr marL="914400" lvl="1" indent="-381000" algn="l" rtl="0">
              <a:spcBef>
                <a:spcPts val="0"/>
              </a:spcBef>
              <a:spcAft>
                <a:spcPts val="0"/>
              </a:spcAft>
              <a:buSzPts val="2400"/>
              <a:buChar char="○"/>
            </a:pPr>
            <a:r>
              <a:rPr lang="en"/>
              <a:t>Latent Semantic Analysis (LSA)</a:t>
            </a:r>
            <a:endParaRPr/>
          </a:p>
          <a:p>
            <a:pPr marL="457200" lvl="0" indent="-381000" algn="l" rtl="0">
              <a:spcBef>
                <a:spcPts val="480"/>
              </a:spcBef>
              <a:spcAft>
                <a:spcPts val="0"/>
              </a:spcAft>
              <a:buSzPts val="2400"/>
              <a:buChar char="●"/>
            </a:pPr>
            <a:r>
              <a:rPr lang="en"/>
              <a:t>c-TF-IDF + LLM embeddings: BERTopic</a:t>
            </a:r>
            <a:endParaRPr/>
          </a:p>
          <a:p>
            <a:pPr marL="457200" lvl="0" indent="-381000" algn="l" rtl="0">
              <a:spcBef>
                <a:spcPts val="1000"/>
              </a:spcBef>
              <a:spcAft>
                <a:spcPts val="0"/>
              </a:spcAft>
              <a:buSzPts val="2400"/>
              <a:buChar char="●"/>
            </a:pPr>
            <a:r>
              <a:rPr lang="en"/>
              <a:t>Zero-shot LLM prompting</a:t>
            </a:r>
            <a:endParaRPr/>
          </a:p>
          <a:p>
            <a:pPr marL="0" lvl="0" indent="0" algn="l" rtl="0">
              <a:spcBef>
                <a:spcPts val="100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38"/>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Latent Dirichlet Allocation</a:t>
            </a:r>
            <a:endParaRPr/>
          </a:p>
        </p:txBody>
      </p:sp>
      <p:sp>
        <p:nvSpPr>
          <p:cNvPr id="252" name="Google Shape;252;p38"/>
          <p:cNvSpPr txBox="1">
            <a:spLocks noGrp="1"/>
          </p:cNvSpPr>
          <p:nvPr>
            <p:ph type="body" idx="1"/>
          </p:nvPr>
        </p:nvSpPr>
        <p:spPr>
          <a:xfrm>
            <a:off x="457200" y="1816025"/>
            <a:ext cx="8229600" cy="4310100"/>
          </a:xfrm>
          <a:prstGeom prst="rect">
            <a:avLst/>
          </a:prstGeom>
        </p:spPr>
        <p:txBody>
          <a:bodyPr spcFirstLastPara="1" wrap="square" lIns="91425" tIns="91425" rIns="91425" bIns="91425" anchor="t" anchorCtr="0">
            <a:noAutofit/>
          </a:bodyPr>
          <a:lstStyle/>
          <a:p>
            <a:pPr marL="457200" lvl="0" indent="-381000" algn="l" rtl="0">
              <a:spcBef>
                <a:spcPts val="480"/>
              </a:spcBef>
              <a:spcAft>
                <a:spcPts val="0"/>
              </a:spcAft>
              <a:buSzPts val="2400"/>
              <a:buChar char="●"/>
            </a:pPr>
            <a:r>
              <a:rPr lang="en"/>
              <a:t>Applied as an unsupervised topic modelling approach</a:t>
            </a:r>
            <a:endParaRPr/>
          </a:p>
          <a:p>
            <a:pPr marL="457200" lvl="0" indent="-381000" algn="l" rtl="0">
              <a:spcBef>
                <a:spcPts val="1000"/>
              </a:spcBef>
              <a:spcAft>
                <a:spcPts val="0"/>
              </a:spcAft>
              <a:buSzPts val="2400"/>
              <a:buChar char="●"/>
            </a:pPr>
            <a:r>
              <a:rPr lang="en"/>
              <a:t>Generative probabilistic model that discovers latent topics within a collection of documents</a:t>
            </a:r>
            <a:endParaRPr/>
          </a:p>
          <a:p>
            <a:pPr marL="457200" lvl="0" indent="-381000" algn="l" rtl="0">
              <a:spcBef>
                <a:spcPts val="1000"/>
              </a:spcBef>
              <a:spcAft>
                <a:spcPts val="0"/>
              </a:spcAft>
              <a:buSzPts val="2400"/>
              <a:buChar char="●"/>
            </a:pPr>
            <a:r>
              <a:rPr lang="en"/>
              <a:t>Each document is represented as a mixture of topics</a:t>
            </a:r>
            <a:endParaRPr/>
          </a:p>
          <a:p>
            <a:pPr marL="457200" lvl="0" indent="-381000" algn="l" rtl="0">
              <a:spcBef>
                <a:spcPts val="1000"/>
              </a:spcBef>
              <a:spcAft>
                <a:spcPts val="0"/>
              </a:spcAft>
              <a:buSzPts val="2400"/>
              <a:buChar char="●"/>
            </a:pPr>
            <a:r>
              <a:rPr lang="en"/>
              <a:t>Probabilistic topic models typically perform well with more well-structured data sets (e.g. repetitive news articles) </a:t>
            </a:r>
            <a:endParaRPr/>
          </a:p>
          <a:p>
            <a:pPr marL="457200" lvl="0" indent="-381000" algn="l" rtl="0">
              <a:spcBef>
                <a:spcPts val="1000"/>
              </a:spcBef>
              <a:spcAft>
                <a:spcPts val="1000"/>
              </a:spcAft>
              <a:buSzPts val="2400"/>
              <a:buChar char="●"/>
            </a:pPr>
            <a:r>
              <a:rPr lang="en"/>
              <a:t>Potential Limitation:  May not be suitable for shorter documents as variance inference is limited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0"/>
          <p:cNvSpPr txBox="1">
            <a:spLocks noGrp="1"/>
          </p:cNvSpPr>
          <p:nvPr>
            <p:ph type="title"/>
          </p:nvPr>
        </p:nvSpPr>
        <p:spPr>
          <a:xfrm>
            <a:off x="457200" y="747713"/>
            <a:ext cx="8229600" cy="1068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BERTopic Topic Modelling for Clusters</a:t>
            </a:r>
            <a:endParaRPr/>
          </a:p>
        </p:txBody>
      </p:sp>
      <p:sp>
        <p:nvSpPr>
          <p:cNvPr id="264" name="Google Shape;264;p40"/>
          <p:cNvSpPr txBox="1">
            <a:spLocks noGrp="1"/>
          </p:cNvSpPr>
          <p:nvPr>
            <p:ph type="body" idx="1"/>
          </p:nvPr>
        </p:nvSpPr>
        <p:spPr>
          <a:xfrm>
            <a:off x="457200" y="1816025"/>
            <a:ext cx="8229600" cy="4310100"/>
          </a:xfrm>
          <a:prstGeom prst="rect">
            <a:avLst/>
          </a:prstGeom>
        </p:spPr>
        <p:txBody>
          <a:bodyPr spcFirstLastPara="1" wrap="square" lIns="91425" tIns="91425" rIns="91425" bIns="91425" anchor="t" anchorCtr="0">
            <a:noAutofit/>
          </a:bodyPr>
          <a:lstStyle/>
          <a:p>
            <a:pPr marL="457200" lvl="0" indent="0" algn="l" rtl="0">
              <a:spcBef>
                <a:spcPts val="480"/>
              </a:spcBef>
              <a:spcAft>
                <a:spcPts val="0"/>
              </a:spcAft>
              <a:buNone/>
            </a:pPr>
            <a:r>
              <a:rPr lang="en"/>
              <a:t>BERTopic is a topic modeling algorithm that uses LLM word embeddings (BERT) and TF-IDF to form clusters</a:t>
            </a:r>
            <a:endParaRPr/>
          </a:p>
          <a:p>
            <a:pPr marL="914400" lvl="1" indent="-368300" algn="l" rtl="0">
              <a:spcBef>
                <a:spcPts val="1000"/>
              </a:spcBef>
              <a:spcAft>
                <a:spcPts val="0"/>
              </a:spcAft>
              <a:buSzPts val="2200"/>
              <a:buChar char="○"/>
            </a:pPr>
            <a:r>
              <a:rPr lang="en" sz="2200"/>
              <a:t>UMAP is applied for dimension reduction and HDBSCAN is used for clustering </a:t>
            </a:r>
            <a:endParaRPr sz="2200"/>
          </a:p>
          <a:p>
            <a:pPr marL="914400" lvl="1" indent="-381000" algn="l" rtl="0">
              <a:spcBef>
                <a:spcPts val="1000"/>
              </a:spcBef>
              <a:spcAft>
                <a:spcPts val="0"/>
              </a:spcAft>
              <a:buSzPts val="2400"/>
              <a:buChar char="○"/>
            </a:pPr>
            <a:r>
              <a:rPr lang="en" sz="2200"/>
              <a:t>Original text is transformed into a c-TF-IDF matrix representing an entire cluster as one document </a:t>
            </a:r>
            <a:endParaRPr sz="2200"/>
          </a:p>
          <a:p>
            <a:pPr marL="914400" lvl="1" indent="-381000" algn="l" rtl="0">
              <a:spcBef>
                <a:spcPts val="1000"/>
              </a:spcBef>
              <a:spcAft>
                <a:spcPts val="0"/>
              </a:spcAft>
              <a:buSzPts val="2400"/>
              <a:buChar char="○"/>
            </a:pPr>
            <a:r>
              <a:rPr lang="en" sz="2200"/>
              <a:t>The highest-scoring keywords are then used to define “topics”</a:t>
            </a:r>
            <a:endParaRPr/>
          </a:p>
          <a:p>
            <a:pPr marL="0" lvl="0" indent="0" algn="l" rtl="0">
              <a:spcBef>
                <a:spcPts val="1000"/>
              </a:spcBef>
              <a:spcAft>
                <a:spcPts val="0"/>
              </a:spcAft>
              <a:buNone/>
            </a:pPr>
            <a:endParaRPr/>
          </a:p>
        </p:txBody>
      </p:sp>
    </p:spTree>
  </p:cSld>
  <p:clrMapOvr>
    <a:masterClrMapping/>
  </p:clrMapOvr>
</p:sld>
</file>

<file path=ppt/theme/theme1.xml><?xml version="1.0" encoding="utf-8"?>
<a:theme xmlns:a="http://schemas.openxmlformats.org/drawingml/2006/main" name="ncstate-ppt-template-horizontal-left-logo">
  <a:themeElements>
    <a:clrScheme name="Custom 1">
      <a:dk1>
        <a:srgbClr val="000000"/>
      </a:dk1>
      <a:lt1>
        <a:srgbClr val="FFFFFF"/>
      </a:lt1>
      <a:dk2>
        <a:srgbClr val="000000"/>
      </a:dk2>
      <a:lt2>
        <a:srgbClr val="F8F8F8"/>
      </a:lt2>
      <a:accent1>
        <a:srgbClr val="CC110A"/>
      </a:accent1>
      <a:accent2>
        <a:srgbClr val="990200"/>
      </a:accent2>
      <a:accent3>
        <a:srgbClr val="BFBFBF"/>
      </a:accent3>
      <a:accent4>
        <a:srgbClr val="808080"/>
      </a:accent4>
      <a:accent5>
        <a:srgbClr val="5F5F5F"/>
      </a:accent5>
      <a:accent6>
        <a:srgbClr val="4D4D4D"/>
      </a:accent6>
      <a:hlink>
        <a:srgbClr val="1F2B5F"/>
      </a:hlink>
      <a:folHlink>
        <a:srgbClr val="77126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1610</Words>
  <Application>Microsoft Office PowerPoint</Application>
  <PresentationFormat>On-screen Show (4:3)</PresentationFormat>
  <Paragraphs>167</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ncstate-ppt-template-horizontal-left-logo</vt:lpstr>
      <vt:lpstr>Topic Comparison for Personalized Research Evaluation</vt:lpstr>
      <vt:lpstr>Motivation</vt:lpstr>
      <vt:lpstr>Manual Literature Review  Common Challenges</vt:lpstr>
      <vt:lpstr>Limitations of Literature Diversity</vt:lpstr>
      <vt:lpstr>Topic Coverage Impact</vt:lpstr>
      <vt:lpstr>Topic Coverage Impact </vt:lpstr>
      <vt:lpstr>Research Goal</vt:lpstr>
      <vt:lpstr>Background Table of Contents</vt:lpstr>
      <vt:lpstr>Automated Literature Reviews</vt:lpstr>
      <vt:lpstr>Automated Peer Reviews </vt:lpstr>
      <vt:lpstr>Sentence Embedding</vt:lpstr>
      <vt:lpstr>Domain Text Challenges</vt:lpstr>
      <vt:lpstr>Data Sparsity and Outlier Causes</vt:lpstr>
      <vt:lpstr>Data Sparsity and Outlier Challenges</vt:lpstr>
      <vt:lpstr>Dimension Reduction </vt:lpstr>
      <vt:lpstr>Principal Component Analysis (PCA)</vt:lpstr>
      <vt:lpstr>Uniform Manifold Approximation and Projection (UMAP)</vt:lpstr>
      <vt:lpstr>Clustering</vt:lpstr>
      <vt:lpstr>Hierarchical DBSCAN Clustering</vt:lpstr>
      <vt:lpstr>Jaccard Similarity</vt:lpstr>
      <vt:lpstr>Jaccard Similarity Text Example</vt:lpstr>
      <vt:lpstr>Topic Modelling</vt:lpstr>
      <vt:lpstr>Latent Dirichlet Allocation</vt:lpstr>
      <vt:lpstr>BERTopic Topic Modelling for Clusters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Angela Zhang</cp:lastModifiedBy>
  <cp:revision>2</cp:revision>
  <dcterms:modified xsi:type="dcterms:W3CDTF">2025-11-07T15:54:46Z</dcterms:modified>
</cp:coreProperties>
</file>